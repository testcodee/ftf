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73" d="100"/>
          <a:sy n="73" d="100"/>
        </p:scale>
        <p:origin x="78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3C281-2385-4602-84CA-3FE9B24C38A3}" type="datetimeFigureOut">
              <a:rPr lang="ko-KR" altLang="en-US" smtClean="0"/>
              <a:t>2025-07-28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92FD5-A426-4D89-BE52-A54AD22A68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767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/>
          <p:cNvCxnSpPr/>
          <p:nvPr userDrawn="1"/>
        </p:nvCxnSpPr>
        <p:spPr>
          <a:xfrm>
            <a:off x="1197864" y="963168"/>
            <a:ext cx="1015593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76981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3C281-2385-4602-84CA-3FE9B24C38A3}" type="datetimeFigureOut">
              <a:rPr lang="ko-KR" altLang="en-US" smtClean="0"/>
              <a:t>2025-07-28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92FD5-A426-4D89-BE52-A54AD22A68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95493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3C281-2385-4602-84CA-3FE9B24C38A3}" type="datetimeFigureOut">
              <a:rPr lang="ko-KR" altLang="en-US" smtClean="0"/>
              <a:t>2025-07-28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92FD5-A426-4D89-BE52-A54AD22A68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76178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3C281-2385-4602-84CA-3FE9B24C38A3}" type="datetimeFigureOut">
              <a:rPr lang="ko-KR" altLang="en-US" smtClean="0"/>
              <a:t>2025-07-28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92FD5-A426-4D89-BE52-A54AD22A68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9228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3C281-2385-4602-84CA-3FE9B24C38A3}" type="datetimeFigureOut">
              <a:rPr lang="ko-KR" altLang="en-US" smtClean="0"/>
              <a:t>2025-07-28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92FD5-A426-4D89-BE52-A54AD22A68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545781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3C281-2385-4602-84CA-3FE9B24C38A3}" type="datetimeFigureOut">
              <a:rPr lang="ko-KR" altLang="en-US" smtClean="0"/>
              <a:t>2025-07-28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92FD5-A426-4D89-BE52-A54AD22A6828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197864" y="963168"/>
            <a:ext cx="1015593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91550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3C281-2385-4602-84CA-3FE9B24C38A3}" type="datetimeFigureOut">
              <a:rPr lang="ko-KR" altLang="en-US" smtClean="0"/>
              <a:t>2025-07-28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92FD5-A426-4D89-BE52-A54AD22A68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681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3C281-2385-4602-84CA-3FE9B24C38A3}" type="datetimeFigureOut">
              <a:rPr lang="ko-KR" altLang="en-US" smtClean="0"/>
              <a:t>2025-07-28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92FD5-A426-4D89-BE52-A54AD22A68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9037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3C281-2385-4602-84CA-3FE9B24C38A3}" type="datetimeFigureOut">
              <a:rPr lang="ko-KR" altLang="en-US" smtClean="0"/>
              <a:t>2025-07-28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92FD5-A426-4D89-BE52-A54AD22A68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6189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3C281-2385-4602-84CA-3FE9B24C38A3}" type="datetimeFigureOut">
              <a:rPr lang="ko-KR" altLang="en-US" smtClean="0"/>
              <a:t>2025-07-28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92FD5-A426-4D89-BE52-A54AD22A68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2237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D3C281-2385-4602-84CA-3FE9B24C38A3}" type="datetimeFigureOut">
              <a:rPr lang="ko-KR" altLang="en-US" smtClean="0"/>
              <a:t>2025-07-28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B92FD5-A426-4D89-BE52-A54AD22A682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164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185596" y="3113902"/>
            <a:ext cx="1576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FTF</a:t>
            </a:r>
          </a:p>
          <a:p>
            <a:pPr algn="ctr"/>
            <a:r>
              <a:rPr lang="en-US" altLang="ko-KR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For the future</a:t>
            </a:r>
            <a:endParaRPr lang="ko-KR" altLang="en-US" dirty="0">
              <a:latin typeface="Yu Gothic UI" panose="020B05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073326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73891" y="308919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 smtClean="0">
                <a:latin typeface="Yu Gothic UI" panose="020B0500000000000000" pitchFamily="34" charset="-128"/>
              </a:rPr>
              <a:t>개요</a:t>
            </a:r>
            <a:endParaRPr lang="ko-KR" altLang="en-US" sz="3600" b="1" dirty="0">
              <a:latin typeface="Yu Gothic UI" panose="020B0500000000000000" pitchFamily="34" charset="-128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31092" y="1421026"/>
            <a:ext cx="2582758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eriod"/>
            </a:pPr>
            <a:r>
              <a:rPr lang="ko-KR" altLang="en-US" sz="2000" dirty="0" smtClean="0">
                <a:latin typeface="Yu Gothic UI" panose="020B0500000000000000" pitchFamily="34" charset="-128"/>
              </a:rPr>
              <a:t>기술 스택</a:t>
            </a:r>
            <a:endParaRPr lang="en-US" altLang="ko-KR" sz="2000" dirty="0" smtClean="0">
              <a:latin typeface="Yu Gothic UI" panose="020B0500000000000000" pitchFamily="34" charset="-128"/>
            </a:endParaRPr>
          </a:p>
          <a:p>
            <a:pPr marL="457200" indent="-457200">
              <a:buAutoNum type="arabicPeriod"/>
            </a:pPr>
            <a:endParaRPr lang="en-US" altLang="ko-KR" sz="2000" dirty="0">
              <a:latin typeface="Yu Gothic UI" panose="020B0500000000000000" pitchFamily="34" charset="-128"/>
            </a:endParaRPr>
          </a:p>
          <a:p>
            <a:pPr marL="457200" indent="-457200">
              <a:buAutoNum type="arabicPeriod"/>
            </a:pPr>
            <a:r>
              <a:rPr lang="ko-KR" altLang="en-US" sz="2000" dirty="0" smtClean="0">
                <a:latin typeface="Yu Gothic UI" panose="020B0500000000000000" pitchFamily="34" charset="-128"/>
              </a:rPr>
              <a:t>팀 프로젝트 소개</a:t>
            </a:r>
            <a:endParaRPr lang="en-US" altLang="ko-KR" sz="2000" dirty="0" smtClean="0">
              <a:latin typeface="Yu Gothic UI" panose="020B0500000000000000" pitchFamily="34" charset="-128"/>
            </a:endParaRPr>
          </a:p>
          <a:p>
            <a:pPr marL="457200" indent="-457200">
              <a:buAutoNum type="arabicPeriod"/>
            </a:pPr>
            <a:endParaRPr lang="en-US" altLang="ko-KR" sz="2000" dirty="0">
              <a:latin typeface="Yu Gothic UI" panose="020B0500000000000000" pitchFamily="34" charset="-128"/>
            </a:endParaRPr>
          </a:p>
          <a:p>
            <a:pPr marL="457200" indent="-457200">
              <a:buAutoNum type="arabicPeriod"/>
            </a:pPr>
            <a:r>
              <a:rPr lang="ko-KR" altLang="en-US" sz="2000" dirty="0" smtClean="0">
                <a:latin typeface="Yu Gothic UI" panose="020B0500000000000000" pitchFamily="34" charset="-128"/>
              </a:rPr>
              <a:t>아키텍처</a:t>
            </a:r>
            <a:endParaRPr lang="en-US" altLang="ko-KR" sz="2000" dirty="0" smtClean="0">
              <a:latin typeface="Yu Gothic UI" panose="020B0500000000000000" pitchFamily="34" charset="-128"/>
            </a:endParaRPr>
          </a:p>
          <a:p>
            <a:pPr marL="457200" indent="-457200">
              <a:buAutoNum type="arabicPeriod"/>
            </a:pPr>
            <a:endParaRPr lang="en-US" altLang="ko-KR" sz="2000" dirty="0">
              <a:latin typeface="Yu Gothic UI" panose="020B0500000000000000" pitchFamily="34" charset="-128"/>
            </a:endParaRPr>
          </a:p>
          <a:p>
            <a:pPr marL="457200" indent="-457200">
              <a:buAutoNum type="arabicPeriod"/>
            </a:pPr>
            <a:r>
              <a:rPr lang="ko-KR" altLang="en-US" sz="2000" dirty="0" smtClean="0">
                <a:latin typeface="Yu Gothic UI" panose="020B0500000000000000" pitchFamily="34" charset="-128"/>
              </a:rPr>
              <a:t>실제 화면</a:t>
            </a:r>
            <a:endParaRPr lang="ko-KR" altLang="en-US" sz="2000" dirty="0">
              <a:latin typeface="Yu Gothic UI" panose="020B05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75225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173891" y="308919"/>
            <a:ext cx="21579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 smtClean="0">
                <a:latin typeface="Yu Gothic UI" panose="020B0500000000000000" pitchFamily="34" charset="-128"/>
              </a:rPr>
              <a:t>기술 스택</a:t>
            </a:r>
            <a:endParaRPr lang="ko-KR" altLang="en-US" sz="3600" b="1" dirty="0">
              <a:latin typeface="Yu Gothic UI" panose="020B0500000000000000" pitchFamily="34" charset="-12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718486" y="1755572"/>
            <a:ext cx="26196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smtClean="0">
                <a:latin typeface="Yu Gothic UI" panose="020B0500000000000000" pitchFamily="34" charset="-128"/>
              </a:rPr>
              <a:t>Java</a:t>
            </a:r>
            <a:endParaRPr lang="ko-KR" altLang="en-US" sz="1600" dirty="0">
              <a:latin typeface="Yu Gothic UI" panose="020B0500000000000000" pitchFamily="34" charset="-128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718486" y="3327518"/>
            <a:ext cx="26196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Mac OS</a:t>
            </a:r>
            <a:endParaRPr lang="ko-KR" altLang="en-US" sz="1600" dirty="0">
              <a:latin typeface="Yu Gothic UI" panose="020B0500000000000000" pitchFamily="34" charset="-128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718486" y="2959782"/>
            <a:ext cx="261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OS</a:t>
            </a:r>
            <a:endParaRPr lang="ko-KR" altLang="en-US" b="1" dirty="0">
              <a:latin typeface="Yu Gothic UI" panose="020B0500000000000000" pitchFamily="34" charset="-128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718486" y="1418614"/>
            <a:ext cx="261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Language</a:t>
            </a:r>
            <a:endParaRPr lang="ko-KR" altLang="en-US" b="1" dirty="0">
              <a:latin typeface="Yu Gothic UI" panose="020B0500000000000000" pitchFamily="34" charset="-12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718486" y="4834130"/>
            <a:ext cx="26196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GitHub</a:t>
            </a:r>
            <a:br>
              <a:rPr lang="en-US" altLang="ko-KR" sz="16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</a:br>
            <a:r>
              <a:rPr lang="en-US" altLang="ko-KR" sz="1600" dirty="0" err="1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Discode</a:t>
            </a:r>
            <a:endParaRPr lang="en-US" altLang="ko-KR" sz="1600" dirty="0" smtClean="0">
              <a:latin typeface="Yu Gothic UI" panose="020B0500000000000000" pitchFamily="34" charset="-128"/>
              <a:ea typeface="Yu Gothic UI" panose="020B0500000000000000" pitchFamily="34" charset="-128"/>
            </a:endParaRPr>
          </a:p>
          <a:p>
            <a:r>
              <a:rPr lang="en-US" altLang="ko-KR" sz="1600" dirty="0" err="1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Figma</a:t>
            </a:r>
            <a:r>
              <a:rPr lang="en-US" altLang="ko-KR" sz="16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 (</a:t>
            </a:r>
            <a:r>
              <a:rPr lang="en-US" altLang="ko-KR" sz="1600" dirty="0" err="1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disgn</a:t>
            </a:r>
            <a:r>
              <a:rPr lang="en-US" altLang="ko-KR" sz="16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)</a:t>
            </a:r>
          </a:p>
          <a:p>
            <a:r>
              <a:rPr lang="en-US" altLang="ko-KR" sz="1600" dirty="0" smtClean="0">
                <a:latin typeface="Yu Gothic UI" panose="020B0500000000000000" pitchFamily="34" charset="-128"/>
              </a:rPr>
              <a:t>Jenkins (CI/CD)</a:t>
            </a:r>
            <a:endParaRPr lang="ko-KR" altLang="en-US" sz="1600" dirty="0">
              <a:latin typeface="Yu Gothic UI" panose="020B0500000000000000" pitchFamily="34" charset="-128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18486" y="4466394"/>
            <a:ext cx="261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Collaborations</a:t>
            </a:r>
            <a:endParaRPr lang="ko-KR" altLang="en-US" b="1" dirty="0">
              <a:latin typeface="Yu Gothic UI" panose="020B0500000000000000" pitchFamily="34" charset="-128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549081" y="1755572"/>
            <a:ext cx="2619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Spring Boot</a:t>
            </a:r>
          </a:p>
          <a:p>
            <a:r>
              <a:rPr lang="en-US" altLang="ko-KR" sz="16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React</a:t>
            </a:r>
            <a:endParaRPr lang="ko-KR" altLang="en-US" sz="1600" dirty="0">
              <a:latin typeface="Yu Gothic UI" panose="020B0500000000000000" pitchFamily="34" charset="-128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549081" y="3327518"/>
            <a:ext cx="2619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MariaDB</a:t>
            </a:r>
            <a:endParaRPr lang="en-US" altLang="ko-KR" sz="1600" dirty="0" smtClean="0">
              <a:latin typeface="Yu Gothic UI" panose="020B0500000000000000" pitchFamily="34" charset="-128"/>
              <a:ea typeface="Yu Gothic UI" panose="020B0500000000000000" pitchFamily="34" charset="-128"/>
            </a:endParaRPr>
          </a:p>
          <a:p>
            <a:r>
              <a:rPr lang="en-US" altLang="ko-KR" sz="1600" dirty="0" err="1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Redis</a:t>
            </a:r>
            <a:endParaRPr lang="ko-KR" altLang="en-US" sz="1600" dirty="0">
              <a:latin typeface="Yu Gothic UI" panose="020B0500000000000000" pitchFamily="34" charset="-128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549081" y="2959782"/>
            <a:ext cx="261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DB / Cache</a:t>
            </a:r>
            <a:endParaRPr lang="ko-KR" altLang="en-US" b="1" dirty="0">
              <a:latin typeface="Yu Gothic UI" panose="020B0500000000000000" pitchFamily="34" charset="-128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549081" y="1418614"/>
            <a:ext cx="261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Framework</a:t>
            </a:r>
            <a:endParaRPr lang="ko-KR" altLang="en-US" b="1" dirty="0">
              <a:latin typeface="Yu Gothic UI" panose="020B0500000000000000" pitchFamily="34" charset="-128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549081" y="4834130"/>
            <a:ext cx="28173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intelliJ</a:t>
            </a:r>
            <a:r>
              <a:rPr lang="en-US" altLang="ko-KR" sz="16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 / Visual Studio Code</a:t>
            </a:r>
          </a:p>
          <a:p>
            <a:r>
              <a:rPr lang="en-US" altLang="ko-KR" sz="1600" dirty="0" err="1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DBeaver</a:t>
            </a:r>
            <a:endParaRPr lang="ko-KR" altLang="en-US" sz="1600" dirty="0">
              <a:latin typeface="Yu Gothic UI" panose="020B0500000000000000" pitchFamily="34" charset="-128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549081" y="4466394"/>
            <a:ext cx="261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Tools</a:t>
            </a:r>
            <a:endParaRPr lang="ko-KR" altLang="en-US" b="1" dirty="0">
              <a:latin typeface="Yu Gothic UI" panose="020B05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402447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79372" y="1755572"/>
            <a:ext cx="35834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AI</a:t>
            </a:r>
            <a:r>
              <a:rPr lang="ko-KR" altLang="en-US" sz="16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를 연동하여 자산 관리를 위한 웹 사이트 </a:t>
            </a:r>
            <a:endParaRPr lang="ko-KR" altLang="en-US" sz="1600" dirty="0">
              <a:latin typeface="Yu Gothic UI" panose="020B0500000000000000" pitchFamily="34" charset="-128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779372" y="3327518"/>
            <a:ext cx="35834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25.08.01 ~ </a:t>
            </a:r>
          </a:p>
          <a:p>
            <a:r>
              <a:rPr lang="en-US" altLang="ko-KR" sz="1600" dirty="0" smtClean="0">
                <a:latin typeface="Yu Gothic UI" panose="020B0500000000000000" pitchFamily="34" charset="-128"/>
              </a:rPr>
              <a:t>Full Stack</a:t>
            </a:r>
            <a:r>
              <a:rPr lang="ko-KR" altLang="en-US" sz="1600" dirty="0" smtClean="0">
                <a:latin typeface="Yu Gothic UI" panose="020B0500000000000000" pitchFamily="34" charset="-128"/>
              </a:rPr>
              <a:t> 팀 프로젝트</a:t>
            </a:r>
            <a:endParaRPr lang="ko-KR" altLang="en-US" sz="1600" dirty="0">
              <a:latin typeface="Yu Gothic UI" panose="020B0500000000000000" pitchFamily="34" charset="-128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79372" y="2959782"/>
            <a:ext cx="3583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기간 </a:t>
            </a:r>
            <a:r>
              <a:rPr lang="en-US" altLang="ko-KR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/ </a:t>
            </a:r>
            <a:r>
              <a:rPr lang="ko-KR" altLang="en-US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인원</a:t>
            </a:r>
            <a:endParaRPr lang="ko-KR" altLang="en-US" b="1" dirty="0">
              <a:latin typeface="Yu Gothic UI" panose="020B0500000000000000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79372" y="1418614"/>
            <a:ext cx="3583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 smtClean="0">
                <a:latin typeface="Yu Gothic UI" panose="020B0500000000000000" pitchFamily="34" charset="-128"/>
              </a:rPr>
              <a:t>기능 소개</a:t>
            </a:r>
            <a:endParaRPr lang="ko-KR" altLang="en-US" b="1" dirty="0">
              <a:latin typeface="Yu Gothic UI" panose="020B0500000000000000" pitchFamily="34" charset="-12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779372" y="4834130"/>
            <a:ext cx="35834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가계 관리</a:t>
            </a:r>
            <a:endParaRPr lang="en-US" altLang="ko-KR" sz="1600" dirty="0">
              <a:latin typeface="Yu Gothic UI" panose="020B0500000000000000" pitchFamily="34" charset="-128"/>
              <a:ea typeface="Yu Gothic UI" panose="020B0500000000000000" pitchFamily="34" charset="-128"/>
            </a:endParaRPr>
          </a:p>
          <a:p>
            <a:r>
              <a:rPr lang="ko-KR" altLang="en-US" sz="1600" dirty="0" smtClean="0">
                <a:latin typeface="Yu Gothic UI" panose="020B0500000000000000" pitchFamily="34" charset="-128"/>
              </a:rPr>
              <a:t>투자 관리</a:t>
            </a:r>
            <a:endParaRPr lang="en-US" altLang="ko-KR" sz="1600" dirty="0" smtClean="0">
              <a:latin typeface="Yu Gothic UI" panose="020B0500000000000000" pitchFamily="34" charset="-128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779372" y="4466394"/>
            <a:ext cx="3583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핵심기능</a:t>
            </a:r>
            <a:endParaRPr lang="ko-KR" altLang="en-US" b="1" dirty="0">
              <a:latin typeface="Yu Gothic UI" panose="020B0500000000000000" pitchFamily="34" charset="-128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22077" y="1755572"/>
            <a:ext cx="35711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CI/CD </a:t>
            </a:r>
            <a:r>
              <a:rPr lang="ko-KR" altLang="en-US" sz="16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구축 </a:t>
            </a:r>
            <a:r>
              <a:rPr lang="en-US" altLang="ko-KR" sz="16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(</a:t>
            </a:r>
            <a:r>
              <a:rPr lang="ko-KR" altLang="en-US" sz="16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예정</a:t>
            </a:r>
            <a:r>
              <a:rPr lang="en-US" altLang="ko-KR" sz="16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)</a:t>
            </a:r>
          </a:p>
          <a:p>
            <a:r>
              <a:rPr lang="ko-KR" altLang="en-US" sz="1600" dirty="0" smtClean="0">
                <a:latin typeface="Yu Gothic UI" panose="020B0500000000000000" pitchFamily="34" charset="-128"/>
              </a:rPr>
              <a:t>웹 사이트 기능 구현</a:t>
            </a:r>
            <a:endParaRPr lang="ko-KR" altLang="en-US" sz="1600" dirty="0">
              <a:latin typeface="Yu Gothic UI" panose="020B0500000000000000" pitchFamily="34" charset="-128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722077" y="3327518"/>
            <a:ext cx="357110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역할 요약 </a:t>
            </a:r>
            <a:r>
              <a:rPr lang="en-US" altLang="ko-KR" sz="1600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: </a:t>
            </a:r>
            <a:r>
              <a:rPr lang="ko-KR" altLang="en-US" sz="1600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각 기능별 내부 </a:t>
            </a:r>
            <a:r>
              <a:rPr lang="ko-KR" altLang="en-US" sz="1600" b="1" dirty="0" err="1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로직</a:t>
            </a:r>
            <a:r>
              <a:rPr lang="ko-KR" altLang="en-US" sz="1600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 구현</a:t>
            </a:r>
            <a:r>
              <a:rPr lang="en-US" altLang="ko-KR" sz="1600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, </a:t>
            </a:r>
            <a:r>
              <a:rPr lang="ko-KR" altLang="en-US" sz="1600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쿼리 최적화</a:t>
            </a:r>
            <a:r>
              <a:rPr lang="en-US" altLang="ko-KR" sz="1600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, </a:t>
            </a:r>
            <a:r>
              <a:rPr lang="ko-KR" altLang="en-US" sz="1600" b="1" dirty="0" err="1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리팩토링</a:t>
            </a:r>
            <a:endParaRPr lang="en-US" altLang="ko-KR" sz="1600" b="1" dirty="0" smtClean="0">
              <a:latin typeface="Yu Gothic UI" panose="020B0500000000000000" pitchFamily="34" charset="-128"/>
              <a:ea typeface="Yu Gothic UI" panose="020B0500000000000000" pitchFamily="34" charset="-128"/>
            </a:endParaRPr>
          </a:p>
          <a:p>
            <a:endParaRPr lang="en-US" altLang="ko-KR" sz="1600" b="1" dirty="0">
              <a:latin typeface="Yu Gothic UI" panose="020B0500000000000000" pitchFamily="34" charset="-128"/>
              <a:ea typeface="Yu Gothic UI" panose="020B0500000000000000" pitchFamily="34" charset="-128"/>
            </a:endParaRPr>
          </a:p>
          <a:p>
            <a:r>
              <a:rPr lang="ko-KR" altLang="en-US" sz="1600" b="1" dirty="0" smtClean="0">
                <a:latin typeface="Yu Gothic UI" panose="020B0500000000000000" pitchFamily="34" charset="-128"/>
              </a:rPr>
              <a:t>세부 내용</a:t>
            </a:r>
            <a:endParaRPr lang="en-US" altLang="ko-KR" sz="1600" b="1" dirty="0" smtClean="0">
              <a:latin typeface="Yu Gothic UI" panose="020B0500000000000000" pitchFamily="34" charset="-128"/>
            </a:endParaRPr>
          </a:p>
          <a:p>
            <a:r>
              <a:rPr lang="en-US" altLang="ko-KR" sz="1600" dirty="0" smtClean="0">
                <a:latin typeface="Yu Gothic UI" panose="020B0500000000000000" pitchFamily="34" charset="-128"/>
              </a:rPr>
              <a:t>&gt; </a:t>
            </a:r>
            <a:r>
              <a:rPr lang="ko-KR" altLang="en-US" sz="1600" dirty="0" smtClean="0">
                <a:latin typeface="Yu Gothic UI" panose="020B0500000000000000" pitchFamily="34" charset="-128"/>
              </a:rPr>
              <a:t>가계부 기능 구현</a:t>
            </a:r>
            <a:endParaRPr lang="en-US" altLang="ko-KR" sz="1600" dirty="0" smtClean="0">
              <a:latin typeface="Yu Gothic UI" panose="020B0500000000000000" pitchFamily="34" charset="-128"/>
            </a:endParaRPr>
          </a:p>
          <a:p>
            <a:r>
              <a:rPr lang="en-US" altLang="ko-KR" sz="1600" dirty="0" smtClean="0">
                <a:latin typeface="Yu Gothic UI" panose="020B0500000000000000" pitchFamily="34" charset="-128"/>
              </a:rPr>
              <a:t>&gt; </a:t>
            </a:r>
            <a:r>
              <a:rPr lang="ko-KR" altLang="en-US" sz="1600" dirty="0" smtClean="0">
                <a:latin typeface="Yu Gothic UI" panose="020B0500000000000000" pitchFamily="34" charset="-128"/>
              </a:rPr>
              <a:t>투자 관리 기능 구현</a:t>
            </a:r>
            <a:endParaRPr lang="en-US" altLang="ko-KR" sz="1600" dirty="0" smtClean="0">
              <a:latin typeface="Yu Gothic UI" panose="020B0500000000000000" pitchFamily="34" charset="-128"/>
            </a:endParaRPr>
          </a:p>
          <a:p>
            <a:r>
              <a:rPr lang="en-US" altLang="ko-KR" sz="1600" dirty="0" smtClean="0">
                <a:latin typeface="Yu Gothic UI" panose="020B0500000000000000" pitchFamily="34" charset="-128"/>
              </a:rPr>
              <a:t>&gt; </a:t>
            </a:r>
            <a:r>
              <a:rPr lang="ko-KR" altLang="en-US" sz="1600" dirty="0" smtClean="0">
                <a:latin typeface="Yu Gothic UI" panose="020B0500000000000000" pitchFamily="34" charset="-128"/>
              </a:rPr>
              <a:t>가계 정리 </a:t>
            </a:r>
            <a:r>
              <a:rPr lang="en-US" altLang="ko-KR" sz="1600" dirty="0" smtClean="0">
                <a:latin typeface="Yu Gothic UI" panose="020B0500000000000000" pitchFamily="34" charset="-128"/>
              </a:rPr>
              <a:t>CRUD API </a:t>
            </a:r>
            <a:r>
              <a:rPr lang="ko-KR" altLang="en-US" sz="1600" dirty="0" smtClean="0">
                <a:latin typeface="Yu Gothic UI" panose="020B0500000000000000" pitchFamily="34" charset="-128"/>
              </a:rPr>
              <a:t>구현</a:t>
            </a:r>
            <a:endParaRPr lang="en-US" altLang="ko-KR" sz="1600" dirty="0" smtClean="0">
              <a:latin typeface="Yu Gothic UI" panose="020B0500000000000000" pitchFamily="34" charset="-128"/>
            </a:endParaRPr>
          </a:p>
          <a:p>
            <a:r>
              <a:rPr lang="en-US" altLang="ko-KR" sz="1600" dirty="0" smtClean="0">
                <a:latin typeface="Yu Gothic UI" panose="020B0500000000000000" pitchFamily="34" charset="-128"/>
              </a:rPr>
              <a:t>&gt; AI</a:t>
            </a:r>
            <a:r>
              <a:rPr lang="ko-KR" altLang="en-US" sz="1600" dirty="0" smtClean="0">
                <a:latin typeface="Yu Gothic UI" panose="020B0500000000000000" pitchFamily="34" charset="-128"/>
              </a:rPr>
              <a:t>에게 조언 구하기 기능 구현</a:t>
            </a:r>
            <a:endParaRPr lang="en-US" altLang="ko-KR" sz="1600" dirty="0" smtClean="0">
              <a:latin typeface="Yu Gothic UI" panose="020B0500000000000000" pitchFamily="34" charset="-128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722077" y="2959782"/>
            <a:ext cx="35711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업무 분담</a:t>
            </a:r>
            <a:endParaRPr lang="ko-KR" altLang="en-US" b="1" dirty="0">
              <a:latin typeface="Yu Gothic UI" panose="020B0500000000000000" pitchFamily="34" charset="-12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722077" y="1418614"/>
            <a:ext cx="35711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팀 성과</a:t>
            </a:r>
            <a:endParaRPr lang="ko-KR" altLang="en-US" b="1" dirty="0">
              <a:latin typeface="Yu Gothic UI" panose="020B0500000000000000" pitchFamily="34" charset="-128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73891" y="308919"/>
            <a:ext cx="39276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FTF </a:t>
            </a:r>
            <a:r>
              <a:rPr lang="ko-KR" altLang="en-US" sz="3600" b="1" dirty="0" smtClean="0">
                <a:latin typeface="Yu Gothic UI" panose="020B0500000000000000" pitchFamily="34" charset="-128"/>
              </a:rPr>
              <a:t>프로젝트 소개</a:t>
            </a:r>
            <a:endParaRPr lang="ko-KR" altLang="en-US" sz="3600" b="1" dirty="0">
              <a:latin typeface="Yu Gothic UI" panose="020B05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75125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/>
        </p:nvSpPr>
        <p:spPr>
          <a:xfrm>
            <a:off x="1309816" y="1297459"/>
            <a:ext cx="9638270" cy="49921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모서리가 둥근 직사각형 8"/>
          <p:cNvSpPr/>
          <p:nvPr/>
        </p:nvSpPr>
        <p:spPr>
          <a:xfrm>
            <a:off x="3661228" y="2131574"/>
            <a:ext cx="4412323" cy="2377936"/>
          </a:xfrm>
          <a:prstGeom prst="roundRect">
            <a:avLst/>
          </a:prstGeom>
          <a:noFill/>
          <a:ln w="285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/>
          <p:cNvSpPr txBox="1"/>
          <p:nvPr/>
        </p:nvSpPr>
        <p:spPr>
          <a:xfrm>
            <a:off x="1173891" y="308919"/>
            <a:ext cx="2031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아키텍처</a:t>
            </a:r>
            <a:endParaRPr lang="ko-KR" altLang="en-US" sz="3600" b="1" dirty="0">
              <a:latin typeface="Yu Gothic UI" panose="020B0500000000000000" pitchFamily="34" charset="-128"/>
            </a:endParaRPr>
          </a:p>
        </p:txBody>
      </p:sp>
      <p:pic>
        <p:nvPicPr>
          <p:cNvPr id="1026" name="Picture 2" descr="React] 리액트(React)란 무엇인가? - 사용하는 이유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7585" y="2380962"/>
            <a:ext cx="475200" cy="413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3980830" y="2842703"/>
            <a:ext cx="6992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React</a:t>
            </a:r>
            <a:endParaRPr lang="ko-KR" altLang="en-US" sz="1600" b="1" dirty="0">
              <a:latin typeface="Yu Gothic UI" panose="020B0500000000000000" pitchFamily="34" charset="-128"/>
            </a:endParaRPr>
          </a:p>
        </p:txBody>
      </p:sp>
      <p:pic>
        <p:nvPicPr>
          <p:cNvPr id="1034" name="Picture 10" descr="구글 크롬 - 소셜 미디어 및 로고 아이콘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3238" y="2193153"/>
            <a:ext cx="475200" cy="475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1610002" y="2668353"/>
            <a:ext cx="7216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Client</a:t>
            </a:r>
            <a:endParaRPr lang="ko-KR" altLang="en-US" sz="1600" b="1" dirty="0">
              <a:latin typeface="Yu Gothic UI" panose="020B0500000000000000" pitchFamily="34" charset="-128"/>
            </a:endParaRPr>
          </a:p>
        </p:txBody>
      </p:sp>
      <p:pic>
        <p:nvPicPr>
          <p:cNvPr id="1036" name="Picture 12" descr="How to: Install MacOS drivers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3019" y="1573602"/>
            <a:ext cx="475792" cy="475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4226935" y="1793020"/>
            <a:ext cx="1616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b="1" dirty="0" smtClean="0"/>
              <a:t>Server(</a:t>
            </a:r>
            <a:r>
              <a:rPr lang="en-US" altLang="ko-KR" sz="1600" b="1" dirty="0" err="1" smtClean="0"/>
              <a:t>MacPC</a:t>
            </a:r>
            <a:r>
              <a:rPr lang="en-US" altLang="ko-KR" sz="1600" b="1" dirty="0" smtClean="0"/>
              <a:t>)</a:t>
            </a:r>
            <a:endParaRPr lang="ko-KR" altLang="en-US" sz="1600" b="1" dirty="0"/>
          </a:p>
        </p:txBody>
      </p:sp>
      <p:pic>
        <p:nvPicPr>
          <p:cNvPr id="1038" name="Picture 14" descr="Spring boot 아이콘, 로고, 기호 – PNG, SVG 무료 다운로드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413" y="2380962"/>
            <a:ext cx="475200" cy="475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/>
          <p:cNvSpPr txBox="1"/>
          <p:nvPr/>
        </p:nvSpPr>
        <p:spPr>
          <a:xfrm>
            <a:off x="4873295" y="2842703"/>
            <a:ext cx="12330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 err="1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SpringBoot</a:t>
            </a:r>
            <a:endParaRPr lang="ko-KR" altLang="en-US" sz="1600" b="1" dirty="0">
              <a:latin typeface="Yu Gothic UI" panose="020B0500000000000000" pitchFamily="34" charset="-128"/>
            </a:endParaRPr>
          </a:p>
        </p:txBody>
      </p:sp>
      <p:cxnSp>
        <p:nvCxnSpPr>
          <p:cNvPr id="13" name="직선 화살표 연결선 12"/>
          <p:cNvCxnSpPr/>
          <p:nvPr/>
        </p:nvCxnSpPr>
        <p:spPr>
          <a:xfrm>
            <a:off x="4680060" y="2581856"/>
            <a:ext cx="452584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0" name="Picture 16" descr="Official MariaDB Logos | MariaDB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5201" y="2380962"/>
            <a:ext cx="582954" cy="475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" name="직선 화살표 연결선 19"/>
          <p:cNvCxnSpPr/>
          <p:nvPr/>
        </p:nvCxnSpPr>
        <p:spPr>
          <a:xfrm>
            <a:off x="5843340" y="2581856"/>
            <a:ext cx="452584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2" name="Picture 18" descr="Redis 아이콘, 로고, 기호 – PNG, SVG 무료 다운로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9078" y="3084304"/>
            <a:ext cx="475200" cy="475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직선 화살표 연결선 21"/>
          <p:cNvCxnSpPr/>
          <p:nvPr/>
        </p:nvCxnSpPr>
        <p:spPr>
          <a:xfrm>
            <a:off x="5843340" y="2793990"/>
            <a:ext cx="452584" cy="38726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23475" y="3517415"/>
            <a:ext cx="6864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 err="1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Redis</a:t>
            </a:r>
            <a:endParaRPr lang="ko-KR" altLang="en-US" sz="1600" b="1" dirty="0">
              <a:latin typeface="Yu Gothic UI" panose="020B0500000000000000" pitchFamily="34" charset="-128"/>
            </a:endParaRPr>
          </a:p>
        </p:txBody>
      </p:sp>
      <p:cxnSp>
        <p:nvCxnSpPr>
          <p:cNvPr id="17" name="직선 화살표 연결선 16"/>
          <p:cNvCxnSpPr/>
          <p:nvPr/>
        </p:nvCxnSpPr>
        <p:spPr>
          <a:xfrm>
            <a:off x="2438871" y="2430753"/>
            <a:ext cx="117389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/>
          <p:cNvSpPr/>
          <p:nvPr/>
        </p:nvSpPr>
        <p:spPr>
          <a:xfrm>
            <a:off x="3980830" y="2172582"/>
            <a:ext cx="2088802" cy="1008676"/>
          </a:xfrm>
          <a:prstGeom prst="roundRect">
            <a:avLst/>
          </a:prstGeom>
          <a:noFill/>
          <a:ln w="28575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>
                    <a:lumMod val="75000"/>
                  </a:schemeClr>
                </a:solidFill>
              </a:ln>
              <a:noFill/>
            </a:endParaRPr>
          </a:p>
        </p:txBody>
      </p:sp>
      <p:pic>
        <p:nvPicPr>
          <p:cNvPr id="1044" name="Picture 20" descr="File:Jenkins logo.svg - Wikimedia Commons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6502" y="3334977"/>
            <a:ext cx="344140" cy="475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/>
          <p:cNvSpPr txBox="1"/>
          <p:nvPr/>
        </p:nvSpPr>
        <p:spPr>
          <a:xfrm>
            <a:off x="3979196" y="2842703"/>
            <a:ext cx="6992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React</a:t>
            </a:r>
            <a:endParaRPr lang="ko-KR" altLang="en-US" sz="1600" b="1" dirty="0">
              <a:latin typeface="Yu Gothic UI" panose="020B0500000000000000" pitchFamily="34" charset="-128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083545" y="3728469"/>
            <a:ext cx="8643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Jenkins</a:t>
            </a:r>
            <a:endParaRPr lang="ko-KR" altLang="en-US" sz="1600" b="1" dirty="0">
              <a:latin typeface="Yu Gothic UI" panose="020B0500000000000000" pitchFamily="34" charset="-128"/>
            </a:endParaRPr>
          </a:p>
        </p:txBody>
      </p:sp>
      <p:cxnSp>
        <p:nvCxnSpPr>
          <p:cNvPr id="21" name="꺾인 연결선 20"/>
          <p:cNvCxnSpPr/>
          <p:nvPr/>
        </p:nvCxnSpPr>
        <p:spPr>
          <a:xfrm rot="16200000" flipV="1">
            <a:off x="4699814" y="3285765"/>
            <a:ext cx="496475" cy="409327"/>
          </a:xfrm>
          <a:prstGeom prst="bentConnector3">
            <a:avLst>
              <a:gd name="adj1" fmla="val 22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7007476" y="18114217"/>
            <a:ext cx="1146468" cy="5004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Deploy / build</a:t>
            </a:r>
            <a:endParaRPr lang="ko-KR" altLang="en-US" sz="1200" dirty="0">
              <a:latin typeface="Yu Gothic UI" panose="020B0500000000000000" pitchFamily="34" charset="-128"/>
            </a:endParaRPr>
          </a:p>
        </p:txBody>
      </p:sp>
      <p:pic>
        <p:nvPicPr>
          <p:cNvPr id="1046" name="Picture 22" descr="파일:IntelliJ IDEA Icon.svg - 위키백과, 우리 모두의 백과사전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5185" y="5006980"/>
            <a:ext cx="475200" cy="475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Box 39"/>
          <p:cNvSpPr txBox="1"/>
          <p:nvPr/>
        </p:nvSpPr>
        <p:spPr>
          <a:xfrm>
            <a:off x="6832292" y="5449086"/>
            <a:ext cx="7809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err="1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intelliJ</a:t>
            </a:r>
            <a:endParaRPr lang="ko-KR" altLang="en-US" sz="1600" b="1" dirty="0">
              <a:latin typeface="Yu Gothic UI" panose="020B0500000000000000" pitchFamily="34" charset="-128"/>
            </a:endParaRPr>
          </a:p>
        </p:txBody>
      </p:sp>
      <p:pic>
        <p:nvPicPr>
          <p:cNvPr id="1048" name="Picture 24" descr="Github Logo - Free social media icons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7860" y="5000635"/>
            <a:ext cx="475200" cy="475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TextBox 41"/>
          <p:cNvSpPr txBox="1"/>
          <p:nvPr/>
        </p:nvSpPr>
        <p:spPr>
          <a:xfrm>
            <a:off x="4226935" y="5445093"/>
            <a:ext cx="8178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 err="1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Github</a:t>
            </a:r>
            <a:endParaRPr lang="ko-KR" altLang="en-US" sz="1600" b="1" dirty="0">
              <a:latin typeface="Yu Gothic UI" panose="020B0500000000000000" pitchFamily="34" charset="-128"/>
            </a:endParaRPr>
          </a:p>
        </p:txBody>
      </p:sp>
      <p:cxnSp>
        <p:nvCxnSpPr>
          <p:cNvPr id="34" name="직선 화살표 연결선 33"/>
          <p:cNvCxnSpPr/>
          <p:nvPr/>
        </p:nvCxnSpPr>
        <p:spPr>
          <a:xfrm flipH="1">
            <a:off x="5065953" y="5257617"/>
            <a:ext cx="1766339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013904" y="4971251"/>
            <a:ext cx="5132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push</a:t>
            </a:r>
            <a:endParaRPr lang="ko-KR" altLang="en-US" sz="1200" dirty="0">
              <a:latin typeface="Yu Gothic UI" panose="020B0500000000000000" pitchFamily="34" charset="-128"/>
            </a:endParaRPr>
          </a:p>
        </p:txBody>
      </p:sp>
      <p:sp>
        <p:nvSpPr>
          <p:cNvPr id="47" name="모서리가 둥근 직사각형 46"/>
          <p:cNvSpPr/>
          <p:nvPr/>
        </p:nvSpPr>
        <p:spPr>
          <a:xfrm>
            <a:off x="6445997" y="4067022"/>
            <a:ext cx="3049872" cy="1828329"/>
          </a:xfrm>
          <a:prstGeom prst="roundRect">
            <a:avLst/>
          </a:prstGeom>
          <a:noFill/>
          <a:ln w="285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/>
          <p:cNvSpPr txBox="1"/>
          <p:nvPr/>
        </p:nvSpPr>
        <p:spPr>
          <a:xfrm>
            <a:off x="8941915" y="3716689"/>
            <a:ext cx="5116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b="1" dirty="0" smtClean="0"/>
              <a:t>IDE</a:t>
            </a:r>
            <a:endParaRPr lang="ko-KR" altLang="en-US" sz="1600" b="1" dirty="0"/>
          </a:p>
        </p:txBody>
      </p:sp>
      <p:cxnSp>
        <p:nvCxnSpPr>
          <p:cNvPr id="41" name="꺾인 연결선 40"/>
          <p:cNvCxnSpPr>
            <a:endCxn id="30" idx="2"/>
          </p:cNvCxnSpPr>
          <p:nvPr/>
        </p:nvCxnSpPr>
        <p:spPr>
          <a:xfrm rot="16200000" flipV="1">
            <a:off x="5088915" y="4493824"/>
            <a:ext cx="1181227" cy="32762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487689" y="4314691"/>
            <a:ext cx="8082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webhook</a:t>
            </a:r>
            <a:endParaRPr lang="ko-KR" altLang="en-US" sz="1200" dirty="0">
              <a:latin typeface="Yu Gothic UI" panose="020B0500000000000000" pitchFamily="34" charset="-128"/>
            </a:endParaRPr>
          </a:p>
        </p:txBody>
      </p:sp>
      <p:pic>
        <p:nvPicPr>
          <p:cNvPr id="6" name="Picture 2" descr="Pc - 무료 컴퓨터개 아이콘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0913" y="5007417"/>
            <a:ext cx="500400" cy="5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/>
          <p:cNvSpPr txBox="1"/>
          <p:nvPr/>
        </p:nvSpPr>
        <p:spPr>
          <a:xfrm>
            <a:off x="8587868" y="5449086"/>
            <a:ext cx="7809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PC</a:t>
            </a:r>
            <a:endParaRPr lang="ko-KR" altLang="en-US" sz="1600" b="1" dirty="0">
              <a:latin typeface="Yu Gothic UI" panose="020B0500000000000000" pitchFamily="34" charset="-128"/>
            </a:endParaRPr>
          </a:p>
        </p:txBody>
      </p:sp>
      <p:cxnSp>
        <p:nvCxnSpPr>
          <p:cNvPr id="39" name="직선 화살표 연결선 38"/>
          <p:cNvCxnSpPr/>
          <p:nvPr/>
        </p:nvCxnSpPr>
        <p:spPr>
          <a:xfrm flipH="1" flipV="1">
            <a:off x="7613275" y="5277965"/>
            <a:ext cx="838559" cy="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771178" y="5016864"/>
            <a:ext cx="6511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coding</a:t>
            </a:r>
            <a:endParaRPr lang="ko-KR" altLang="en-US" sz="1200" dirty="0">
              <a:latin typeface="Yu Gothic UI" panose="020B0500000000000000" pitchFamily="34" charset="-128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850500" y="3122449"/>
            <a:ext cx="724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Session,</a:t>
            </a:r>
          </a:p>
          <a:p>
            <a:r>
              <a:rPr lang="en-US" altLang="ko-KR" sz="12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Cache</a:t>
            </a:r>
            <a:endParaRPr lang="ko-KR" altLang="en-US" sz="1200" dirty="0">
              <a:latin typeface="Yu Gothic UI" panose="020B0500000000000000" pitchFamily="34" charset="-128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925472" y="2468421"/>
            <a:ext cx="502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Data</a:t>
            </a:r>
            <a:endParaRPr lang="ko-KR" altLang="en-US" sz="1200" dirty="0">
              <a:latin typeface="Yu Gothic UI" panose="020B0500000000000000" pitchFamily="34" charset="-128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302324" y="2153599"/>
            <a:ext cx="3513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BE</a:t>
            </a:r>
            <a:endParaRPr lang="ko-KR" altLang="en-US" sz="1200" dirty="0">
              <a:latin typeface="Yu Gothic UI" panose="020B0500000000000000" pitchFamily="34" charset="-128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125017" y="2153598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FE</a:t>
            </a:r>
            <a:endParaRPr lang="ko-KR" altLang="en-US" sz="1200" dirty="0">
              <a:latin typeface="Yu Gothic UI" panose="020B0500000000000000" pitchFamily="34" charset="-128"/>
            </a:endParaRPr>
          </a:p>
        </p:txBody>
      </p:sp>
      <p:cxnSp>
        <p:nvCxnSpPr>
          <p:cNvPr id="50" name="직선 화살표 연결선 49"/>
          <p:cNvCxnSpPr/>
          <p:nvPr/>
        </p:nvCxnSpPr>
        <p:spPr>
          <a:xfrm flipH="1" flipV="1">
            <a:off x="5891806" y="3685847"/>
            <a:ext cx="2560029" cy="13506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612763" y="3421004"/>
            <a:ext cx="11464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Deploy / build</a:t>
            </a:r>
            <a:endParaRPr lang="ko-KR" altLang="en-US" sz="1200" dirty="0">
              <a:latin typeface="Yu Gothic UI" panose="020B0500000000000000" pitchFamily="34" charset="-128"/>
            </a:endParaRPr>
          </a:p>
        </p:txBody>
      </p:sp>
      <p:pic>
        <p:nvPicPr>
          <p:cNvPr id="1028" name="Picture 4" descr="파일:DBeaver logo.svg - 위키백과, 우리 모두의 백과사전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6202" y="4162009"/>
            <a:ext cx="500400" cy="5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/>
          <p:cNvSpPr txBox="1"/>
          <p:nvPr/>
        </p:nvSpPr>
        <p:spPr>
          <a:xfrm>
            <a:off x="8268788" y="4613863"/>
            <a:ext cx="9913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err="1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DBeaver</a:t>
            </a:r>
            <a:endParaRPr lang="ko-KR" altLang="en-US" sz="1600" b="1" dirty="0">
              <a:latin typeface="Yu Gothic UI" panose="020B0500000000000000" pitchFamily="34" charset="-128"/>
            </a:endParaRPr>
          </a:p>
        </p:txBody>
      </p:sp>
      <p:cxnSp>
        <p:nvCxnSpPr>
          <p:cNvPr id="19" name="꺾인 연결선 18"/>
          <p:cNvCxnSpPr>
            <a:endCxn id="45" idx="3"/>
          </p:cNvCxnSpPr>
          <p:nvPr/>
        </p:nvCxnSpPr>
        <p:spPr>
          <a:xfrm rot="16200000" flipV="1">
            <a:off x="7325342" y="2709112"/>
            <a:ext cx="1555088" cy="135070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792966" y="2928381"/>
            <a:ext cx="10054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DataControl</a:t>
            </a:r>
            <a:endParaRPr lang="ko-KR" altLang="en-US" sz="1200" dirty="0">
              <a:latin typeface="Yu Gothic UI" panose="020B0500000000000000" pitchFamily="34" charset="-128"/>
            </a:endParaRPr>
          </a:p>
        </p:txBody>
      </p:sp>
      <p:pic>
        <p:nvPicPr>
          <p:cNvPr id="26" name="Picture 10" descr="Discord Logo, symbol, meaning, history, PNG, brand"/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8644" y="5016864"/>
            <a:ext cx="889600" cy="5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9" name="직선 화살표 연결선 58"/>
          <p:cNvCxnSpPr/>
          <p:nvPr/>
        </p:nvCxnSpPr>
        <p:spPr>
          <a:xfrm>
            <a:off x="9159908" y="5267064"/>
            <a:ext cx="6384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024192" y="4990065"/>
            <a:ext cx="10743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collaboration</a:t>
            </a:r>
            <a:endParaRPr lang="ko-KR" altLang="en-US" sz="1200" dirty="0">
              <a:latin typeface="Yu Gothic UI" panose="020B0500000000000000" pitchFamily="34" charset="-128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6508524" y="4556975"/>
            <a:ext cx="11464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smtClean="0">
                <a:latin typeface="Yu Gothic UI" panose="020B0500000000000000" pitchFamily="34" charset="-128"/>
                <a:ea typeface="Yu Gothic UI" panose="020B0500000000000000" pitchFamily="34" charset="-128"/>
              </a:rPr>
              <a:t>Deploy / build</a:t>
            </a:r>
            <a:endParaRPr lang="ko-KR" altLang="en-US" sz="1200" dirty="0">
              <a:latin typeface="Yu Gothic UI" panose="020B05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440021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159</Words>
  <Application>Microsoft Office PowerPoint</Application>
  <PresentationFormat>와이드스크린</PresentationFormat>
  <Paragraphs>74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Yu Gothic UI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사용자</dc:creator>
  <cp:lastModifiedBy>Windows 사용자</cp:lastModifiedBy>
  <cp:revision>22</cp:revision>
  <dcterms:created xsi:type="dcterms:W3CDTF">2025-07-28T00:15:26Z</dcterms:created>
  <dcterms:modified xsi:type="dcterms:W3CDTF">2025-07-28T01:56:13Z</dcterms:modified>
</cp:coreProperties>
</file>