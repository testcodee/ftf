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4" r:id="rId9"/>
    <p:sldId id="265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8" d="100"/>
          <a:sy n="78" d="100"/>
        </p:scale>
        <p:origin x="1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3C281-2385-4602-84CA-3FE9B24C38A3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92FD5-A426-4D89-BE52-A54AD22A68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2767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1197864" y="963168"/>
            <a:ext cx="1015593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76981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3C281-2385-4602-84CA-3FE9B24C38A3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92FD5-A426-4D89-BE52-A54AD22A68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9549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3C281-2385-4602-84CA-3FE9B24C38A3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92FD5-A426-4D89-BE52-A54AD22A68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7617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3C281-2385-4602-84CA-3FE9B24C38A3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92FD5-A426-4D89-BE52-A54AD22A68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922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3C281-2385-4602-84CA-3FE9B24C38A3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92FD5-A426-4D89-BE52-A54AD22A68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54578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3C281-2385-4602-84CA-3FE9B24C38A3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92FD5-A426-4D89-BE52-A54AD22A6828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1197864" y="963168"/>
            <a:ext cx="1015593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91550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3C281-2385-4602-84CA-3FE9B24C38A3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92FD5-A426-4D89-BE52-A54AD22A68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681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3C281-2385-4602-84CA-3FE9B24C38A3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92FD5-A426-4D89-BE52-A54AD22A68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037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3C281-2385-4602-84CA-3FE9B24C38A3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92FD5-A426-4D89-BE52-A54AD22A68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189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D3C281-2385-4602-84CA-3FE9B24C38A3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92FD5-A426-4D89-BE52-A54AD22A68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42237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D3C281-2385-4602-84CA-3FE9B24C38A3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92FD5-A426-4D89-BE52-A54AD22A68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164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185596" y="3113902"/>
            <a:ext cx="15760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FTF</a:t>
            </a:r>
          </a:p>
          <a:p>
            <a:pPr algn="ctr"/>
            <a:r>
              <a:rPr lang="en-US" altLang="ko-KR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For the future</a:t>
            </a:r>
            <a:endParaRPr lang="ko-KR" altLang="en-US" dirty="0">
              <a:latin typeface="Yu Gothic UI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07332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73891" y="308919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 smtClean="0">
                <a:latin typeface="Yu Gothic UI" panose="020B0500000000000000" pitchFamily="34" charset="-128"/>
              </a:rPr>
              <a:t>개요</a:t>
            </a:r>
            <a:endParaRPr lang="ko-KR" altLang="en-US" sz="3600" b="1" dirty="0">
              <a:latin typeface="Yu Gothic UI" panose="020B0500000000000000" pitchFamily="34" charset="-12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631092" y="1421026"/>
            <a:ext cx="2582758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AutoNum type="arabicPeriod"/>
            </a:pPr>
            <a:r>
              <a:rPr lang="ko-KR" altLang="en-US" sz="2000" dirty="0" smtClean="0">
                <a:latin typeface="Yu Gothic UI" panose="020B0500000000000000" pitchFamily="34" charset="-128"/>
              </a:rPr>
              <a:t>기술 스택</a:t>
            </a:r>
            <a:endParaRPr lang="en-US" altLang="ko-KR" sz="2000" dirty="0" smtClean="0">
              <a:latin typeface="Yu Gothic UI" panose="020B0500000000000000" pitchFamily="34" charset="-128"/>
            </a:endParaRPr>
          </a:p>
          <a:p>
            <a:pPr marL="457200" indent="-457200">
              <a:buAutoNum type="arabicPeriod"/>
            </a:pPr>
            <a:endParaRPr lang="en-US" altLang="ko-KR" sz="2000" dirty="0">
              <a:latin typeface="Yu Gothic UI" panose="020B0500000000000000" pitchFamily="34" charset="-128"/>
            </a:endParaRPr>
          </a:p>
          <a:p>
            <a:pPr marL="457200" indent="-457200">
              <a:buAutoNum type="arabicPeriod"/>
            </a:pPr>
            <a:r>
              <a:rPr lang="ko-KR" altLang="en-US" sz="2000" dirty="0" smtClean="0">
                <a:latin typeface="Yu Gothic UI" panose="020B0500000000000000" pitchFamily="34" charset="-128"/>
              </a:rPr>
              <a:t>팀 프로젝트 소개</a:t>
            </a:r>
            <a:endParaRPr lang="en-US" altLang="ko-KR" sz="2000" dirty="0" smtClean="0">
              <a:latin typeface="Yu Gothic UI" panose="020B0500000000000000" pitchFamily="34" charset="-128"/>
            </a:endParaRPr>
          </a:p>
          <a:p>
            <a:pPr marL="457200" indent="-457200">
              <a:buAutoNum type="arabicPeriod"/>
            </a:pPr>
            <a:endParaRPr lang="en-US" altLang="ko-KR" sz="2000" dirty="0">
              <a:latin typeface="Yu Gothic UI" panose="020B0500000000000000" pitchFamily="34" charset="-128"/>
            </a:endParaRPr>
          </a:p>
          <a:p>
            <a:pPr marL="457200" indent="-457200">
              <a:buAutoNum type="arabicPeriod"/>
            </a:pPr>
            <a:r>
              <a:rPr lang="ko-KR" altLang="en-US" sz="2000" dirty="0" smtClean="0">
                <a:latin typeface="Yu Gothic UI" panose="020B0500000000000000" pitchFamily="34" charset="-128"/>
              </a:rPr>
              <a:t>아키텍처</a:t>
            </a:r>
            <a:endParaRPr lang="en-US" altLang="ko-KR" sz="2000" dirty="0" smtClean="0">
              <a:latin typeface="Yu Gothic UI" panose="020B0500000000000000" pitchFamily="34" charset="-128"/>
            </a:endParaRPr>
          </a:p>
          <a:p>
            <a:pPr marL="457200" indent="-457200">
              <a:buAutoNum type="arabicPeriod"/>
            </a:pPr>
            <a:endParaRPr lang="en-US" altLang="ko-KR" sz="2000" dirty="0">
              <a:latin typeface="Yu Gothic UI" panose="020B0500000000000000" pitchFamily="34" charset="-128"/>
            </a:endParaRPr>
          </a:p>
          <a:p>
            <a:pPr marL="457200" indent="-457200">
              <a:buAutoNum type="arabicPeriod"/>
            </a:pPr>
            <a:r>
              <a:rPr lang="ko-KR" altLang="en-US" sz="2000" dirty="0" smtClean="0">
                <a:latin typeface="Yu Gothic UI" panose="020B0500000000000000" pitchFamily="34" charset="-128"/>
              </a:rPr>
              <a:t>화면 설계</a:t>
            </a:r>
            <a:endParaRPr lang="ko-KR" altLang="en-US" sz="2000" dirty="0">
              <a:latin typeface="Yu Gothic UI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57522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73891" y="308919"/>
            <a:ext cx="21579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 smtClean="0">
                <a:latin typeface="Yu Gothic UI" panose="020B0500000000000000" pitchFamily="34" charset="-128"/>
              </a:rPr>
              <a:t>기술 스택</a:t>
            </a:r>
            <a:endParaRPr lang="ko-KR" altLang="en-US" sz="3600" b="1" dirty="0">
              <a:latin typeface="Yu Gothic UI" panose="020B0500000000000000" pitchFamily="34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18486" y="1755572"/>
            <a:ext cx="2619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Yu Gothic UI" panose="020B0500000000000000" pitchFamily="34" charset="-128"/>
              </a:rPr>
              <a:t>Java</a:t>
            </a:r>
            <a:endParaRPr lang="ko-KR" altLang="en-US" sz="1600" dirty="0">
              <a:latin typeface="Yu Gothic UI" panose="020B0500000000000000" pitchFamily="34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18486" y="3327518"/>
            <a:ext cx="26196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Mac OS</a:t>
            </a:r>
            <a:endParaRPr lang="ko-KR" altLang="en-US" sz="1600" dirty="0">
              <a:latin typeface="Yu Gothic UI" panose="020B0500000000000000" pitchFamily="34" charset="-128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18486" y="2959782"/>
            <a:ext cx="2619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OS</a:t>
            </a:r>
            <a:endParaRPr lang="ko-KR" altLang="en-US" b="1" dirty="0">
              <a:latin typeface="Yu Gothic UI" panose="020B0500000000000000" pitchFamily="34" charset="-128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18486" y="1418614"/>
            <a:ext cx="2619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Language</a:t>
            </a:r>
            <a:endParaRPr lang="ko-KR" altLang="en-US" b="1" dirty="0">
              <a:latin typeface="Yu Gothic UI" panose="020B0500000000000000" pitchFamily="34" charset="-12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18486" y="4834130"/>
            <a:ext cx="261963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GitHub</a:t>
            </a:r>
            <a:br>
              <a:rPr lang="en-US" altLang="ko-KR" sz="1600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</a:br>
            <a:r>
              <a:rPr lang="en-US" altLang="ko-KR" sz="1600" dirty="0" err="1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Discode</a:t>
            </a:r>
            <a:endParaRPr lang="en-US" altLang="ko-KR" sz="1600" dirty="0" smtClean="0">
              <a:latin typeface="Yu Gothic UI" panose="020B0500000000000000" pitchFamily="34" charset="-128"/>
              <a:ea typeface="Yu Gothic UI" panose="020B0500000000000000" pitchFamily="34" charset="-128"/>
            </a:endParaRPr>
          </a:p>
          <a:p>
            <a:r>
              <a:rPr lang="en-US" altLang="ko-KR" sz="1600" dirty="0" err="1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Figma</a:t>
            </a:r>
            <a:r>
              <a:rPr lang="en-US" altLang="ko-KR" sz="1600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 (</a:t>
            </a:r>
            <a:r>
              <a:rPr lang="en-US" altLang="ko-KR" sz="1600" dirty="0" err="1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disgn</a:t>
            </a:r>
            <a:r>
              <a:rPr lang="en-US" altLang="ko-KR" sz="1600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)</a:t>
            </a:r>
          </a:p>
          <a:p>
            <a:r>
              <a:rPr lang="en-US" altLang="ko-KR" sz="1600" dirty="0" smtClean="0">
                <a:latin typeface="Yu Gothic UI" panose="020B0500000000000000" pitchFamily="34" charset="-128"/>
              </a:rPr>
              <a:t>Jenkins (CI/CD)</a:t>
            </a:r>
            <a:endParaRPr lang="ko-KR" altLang="en-US" sz="1600" dirty="0">
              <a:latin typeface="Yu Gothic UI" panose="020B0500000000000000" pitchFamily="34" charset="-128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18486" y="4466394"/>
            <a:ext cx="2619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Collaborations</a:t>
            </a:r>
            <a:endParaRPr lang="ko-KR" altLang="en-US" b="1" dirty="0">
              <a:latin typeface="Yu Gothic UI" panose="020B0500000000000000" pitchFamily="34" charset="-128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49081" y="1755572"/>
            <a:ext cx="2619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Spring Boot</a:t>
            </a:r>
          </a:p>
          <a:p>
            <a:r>
              <a:rPr lang="en-US" altLang="ko-KR" sz="1600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React</a:t>
            </a:r>
            <a:endParaRPr lang="ko-KR" altLang="en-US" sz="1600" dirty="0">
              <a:latin typeface="Yu Gothic UI" panose="020B0500000000000000" pitchFamily="34" charset="-128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49081" y="3327518"/>
            <a:ext cx="26196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MariaDB</a:t>
            </a:r>
            <a:endParaRPr lang="en-US" altLang="ko-KR" sz="1600" dirty="0" smtClean="0">
              <a:latin typeface="Yu Gothic UI" panose="020B0500000000000000" pitchFamily="34" charset="-128"/>
              <a:ea typeface="Yu Gothic UI" panose="020B0500000000000000" pitchFamily="34" charset="-128"/>
            </a:endParaRPr>
          </a:p>
          <a:p>
            <a:r>
              <a:rPr lang="en-US" altLang="ko-KR" sz="1600" dirty="0" err="1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Redis</a:t>
            </a:r>
            <a:endParaRPr lang="ko-KR" altLang="en-US" sz="1600" dirty="0">
              <a:latin typeface="Yu Gothic UI" panose="020B0500000000000000" pitchFamily="34" charset="-128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49081" y="2959782"/>
            <a:ext cx="2619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DB / Cache</a:t>
            </a:r>
            <a:endParaRPr lang="ko-KR" altLang="en-US" b="1" dirty="0">
              <a:latin typeface="Yu Gothic UI" panose="020B0500000000000000" pitchFamily="34" charset="-128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49081" y="1418614"/>
            <a:ext cx="2619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Framework</a:t>
            </a:r>
            <a:endParaRPr lang="ko-KR" altLang="en-US" b="1" dirty="0">
              <a:latin typeface="Yu Gothic UI" panose="020B0500000000000000" pitchFamily="34" charset="-128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49081" y="4834130"/>
            <a:ext cx="28173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err="1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intelliJ</a:t>
            </a:r>
            <a:r>
              <a:rPr lang="en-US" altLang="ko-KR" sz="1600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 / Visual Studio Code</a:t>
            </a:r>
          </a:p>
          <a:p>
            <a:r>
              <a:rPr lang="en-US" altLang="ko-KR" sz="1600" dirty="0" err="1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DBeaver</a:t>
            </a:r>
            <a:endParaRPr lang="ko-KR" altLang="en-US" sz="1600" dirty="0">
              <a:latin typeface="Yu Gothic UI" panose="020B0500000000000000" pitchFamily="34" charset="-128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49081" y="4466394"/>
            <a:ext cx="2619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Tools</a:t>
            </a:r>
            <a:endParaRPr lang="ko-KR" altLang="en-US" b="1" dirty="0">
              <a:latin typeface="Yu Gothic UI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40244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79372" y="1755572"/>
            <a:ext cx="35834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AI</a:t>
            </a:r>
            <a:r>
              <a:rPr lang="ko-KR" altLang="en-US" sz="1600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를 연동하여 자산 관리를 위한 웹 사이트 </a:t>
            </a:r>
            <a:endParaRPr lang="ko-KR" altLang="en-US" sz="1600" dirty="0">
              <a:latin typeface="Yu Gothic UI" panose="020B0500000000000000" pitchFamily="34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779372" y="3327518"/>
            <a:ext cx="35834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25.08.01 ~ </a:t>
            </a:r>
          </a:p>
          <a:p>
            <a:r>
              <a:rPr lang="en-US" altLang="ko-KR" sz="1600" dirty="0" smtClean="0">
                <a:latin typeface="Yu Gothic UI" panose="020B0500000000000000" pitchFamily="34" charset="-128"/>
              </a:rPr>
              <a:t>Full Stack</a:t>
            </a:r>
            <a:r>
              <a:rPr lang="ko-KR" altLang="en-US" sz="1600" dirty="0" smtClean="0">
                <a:latin typeface="Yu Gothic UI" panose="020B0500000000000000" pitchFamily="34" charset="-128"/>
              </a:rPr>
              <a:t> 팀 프로젝트</a:t>
            </a:r>
            <a:endParaRPr lang="ko-KR" altLang="en-US" sz="1600" dirty="0">
              <a:latin typeface="Yu Gothic UI" panose="020B0500000000000000" pitchFamily="34" charset="-12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79372" y="2959782"/>
            <a:ext cx="3583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기간 </a:t>
            </a:r>
            <a:r>
              <a:rPr lang="en-US" altLang="ko-KR" b="1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/ </a:t>
            </a:r>
            <a:r>
              <a:rPr lang="ko-KR" altLang="en-US" b="1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인원</a:t>
            </a:r>
            <a:endParaRPr lang="ko-KR" altLang="en-US" b="1" dirty="0">
              <a:latin typeface="Yu Gothic UI" panose="020B0500000000000000" pitchFamily="34" charset="-128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779372" y="1418614"/>
            <a:ext cx="3583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 smtClean="0">
                <a:latin typeface="Yu Gothic UI" panose="020B0500000000000000" pitchFamily="34" charset="-128"/>
              </a:rPr>
              <a:t>기능 소개</a:t>
            </a:r>
            <a:endParaRPr lang="ko-KR" altLang="en-US" b="1" dirty="0">
              <a:latin typeface="Yu Gothic UI" panose="020B0500000000000000" pitchFamily="34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79372" y="4834130"/>
            <a:ext cx="35834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가계 관리</a:t>
            </a:r>
            <a:endParaRPr lang="en-US" altLang="ko-KR" sz="1600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  <a:p>
            <a:r>
              <a:rPr lang="ko-KR" altLang="en-US" sz="1600" dirty="0" smtClean="0">
                <a:latin typeface="Yu Gothic UI" panose="020B0500000000000000" pitchFamily="34" charset="-128"/>
              </a:rPr>
              <a:t>투자 관리</a:t>
            </a:r>
            <a:endParaRPr lang="en-US" altLang="ko-KR" sz="1600" dirty="0" smtClean="0">
              <a:latin typeface="Yu Gothic UI" panose="020B0500000000000000" pitchFamily="34" charset="-128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79372" y="4466394"/>
            <a:ext cx="3583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핵심기능</a:t>
            </a:r>
            <a:endParaRPr lang="ko-KR" altLang="en-US" b="1" dirty="0">
              <a:latin typeface="Yu Gothic UI" panose="020B0500000000000000" pitchFamily="34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22077" y="1755572"/>
            <a:ext cx="35711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CI/CD </a:t>
            </a:r>
            <a:r>
              <a:rPr lang="ko-KR" altLang="en-US" sz="1600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구축 </a:t>
            </a:r>
            <a:r>
              <a:rPr lang="en-US" altLang="ko-KR" sz="1600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(</a:t>
            </a:r>
            <a:r>
              <a:rPr lang="ko-KR" altLang="en-US" sz="1600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예정</a:t>
            </a:r>
            <a:r>
              <a:rPr lang="en-US" altLang="ko-KR" sz="1600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)</a:t>
            </a:r>
          </a:p>
          <a:p>
            <a:r>
              <a:rPr lang="ko-KR" altLang="en-US" sz="1600" dirty="0" smtClean="0">
                <a:latin typeface="Yu Gothic UI" panose="020B0500000000000000" pitchFamily="34" charset="-128"/>
              </a:rPr>
              <a:t>웹 사이트 기능 구현</a:t>
            </a:r>
            <a:endParaRPr lang="ko-KR" altLang="en-US" sz="1600" dirty="0">
              <a:latin typeface="Yu Gothic UI" panose="020B0500000000000000" pitchFamily="34" charset="-128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22077" y="3327518"/>
            <a:ext cx="357110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역할 요약 </a:t>
            </a:r>
            <a:r>
              <a:rPr lang="en-US" altLang="ko-KR" sz="1600" b="1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: </a:t>
            </a:r>
            <a:r>
              <a:rPr lang="ko-KR" altLang="en-US" sz="1600" b="1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각 기능별 내부 </a:t>
            </a:r>
            <a:r>
              <a:rPr lang="ko-KR" altLang="en-US" sz="1600" b="1" dirty="0" err="1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로직</a:t>
            </a:r>
            <a:r>
              <a:rPr lang="ko-KR" altLang="en-US" sz="1600" b="1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 구현</a:t>
            </a:r>
            <a:r>
              <a:rPr lang="en-US" altLang="ko-KR" sz="1600" b="1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, </a:t>
            </a:r>
            <a:r>
              <a:rPr lang="ko-KR" altLang="en-US" sz="1600" b="1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쿼리 최적화</a:t>
            </a:r>
            <a:r>
              <a:rPr lang="en-US" altLang="ko-KR" sz="1600" b="1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, </a:t>
            </a:r>
            <a:r>
              <a:rPr lang="ko-KR" altLang="en-US" sz="1600" b="1" dirty="0" err="1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리팩토링</a:t>
            </a:r>
            <a:endParaRPr lang="en-US" altLang="ko-KR" sz="1600" b="1" dirty="0" smtClean="0">
              <a:latin typeface="Yu Gothic UI" panose="020B0500000000000000" pitchFamily="34" charset="-128"/>
              <a:ea typeface="Yu Gothic UI" panose="020B0500000000000000" pitchFamily="34" charset="-128"/>
            </a:endParaRPr>
          </a:p>
          <a:p>
            <a:endParaRPr lang="en-US" altLang="ko-KR" sz="1600" b="1" dirty="0">
              <a:latin typeface="Yu Gothic UI" panose="020B0500000000000000" pitchFamily="34" charset="-128"/>
              <a:ea typeface="Yu Gothic UI" panose="020B0500000000000000" pitchFamily="34" charset="-128"/>
            </a:endParaRPr>
          </a:p>
          <a:p>
            <a:r>
              <a:rPr lang="ko-KR" altLang="en-US" sz="1600" b="1" dirty="0" smtClean="0">
                <a:latin typeface="Yu Gothic UI" panose="020B0500000000000000" pitchFamily="34" charset="-128"/>
              </a:rPr>
              <a:t>세부 내용</a:t>
            </a:r>
            <a:endParaRPr lang="en-US" altLang="ko-KR" sz="1600" b="1" dirty="0" smtClean="0">
              <a:latin typeface="Yu Gothic UI" panose="020B0500000000000000" pitchFamily="34" charset="-128"/>
            </a:endParaRPr>
          </a:p>
          <a:p>
            <a:r>
              <a:rPr lang="en-US" altLang="ko-KR" sz="1600" dirty="0" smtClean="0">
                <a:latin typeface="Yu Gothic UI" panose="020B0500000000000000" pitchFamily="34" charset="-128"/>
              </a:rPr>
              <a:t>&gt; </a:t>
            </a:r>
            <a:r>
              <a:rPr lang="ko-KR" altLang="en-US" sz="1600" dirty="0" smtClean="0">
                <a:latin typeface="Yu Gothic UI" panose="020B0500000000000000" pitchFamily="34" charset="-128"/>
              </a:rPr>
              <a:t>가계부 기능 구현</a:t>
            </a:r>
            <a:endParaRPr lang="en-US" altLang="ko-KR" sz="1600" dirty="0" smtClean="0">
              <a:latin typeface="Yu Gothic UI" panose="020B0500000000000000" pitchFamily="34" charset="-128"/>
            </a:endParaRPr>
          </a:p>
          <a:p>
            <a:r>
              <a:rPr lang="en-US" altLang="ko-KR" sz="1600" dirty="0" smtClean="0">
                <a:latin typeface="Yu Gothic UI" panose="020B0500000000000000" pitchFamily="34" charset="-128"/>
              </a:rPr>
              <a:t>&gt; </a:t>
            </a:r>
            <a:r>
              <a:rPr lang="ko-KR" altLang="en-US" sz="1600" dirty="0" smtClean="0">
                <a:latin typeface="Yu Gothic UI" panose="020B0500000000000000" pitchFamily="34" charset="-128"/>
              </a:rPr>
              <a:t>투자 관리 기능 구현</a:t>
            </a:r>
            <a:endParaRPr lang="en-US" altLang="ko-KR" sz="1600" dirty="0" smtClean="0">
              <a:latin typeface="Yu Gothic UI" panose="020B0500000000000000" pitchFamily="34" charset="-128"/>
            </a:endParaRPr>
          </a:p>
          <a:p>
            <a:r>
              <a:rPr lang="en-US" altLang="ko-KR" sz="1600" dirty="0" smtClean="0">
                <a:latin typeface="Yu Gothic UI" panose="020B0500000000000000" pitchFamily="34" charset="-128"/>
              </a:rPr>
              <a:t>&gt; </a:t>
            </a:r>
            <a:r>
              <a:rPr lang="ko-KR" altLang="en-US" sz="1600" dirty="0" smtClean="0">
                <a:latin typeface="Yu Gothic UI" panose="020B0500000000000000" pitchFamily="34" charset="-128"/>
              </a:rPr>
              <a:t>가계 정리 </a:t>
            </a:r>
            <a:r>
              <a:rPr lang="en-US" altLang="ko-KR" sz="1600" dirty="0" smtClean="0">
                <a:latin typeface="Yu Gothic UI" panose="020B0500000000000000" pitchFamily="34" charset="-128"/>
              </a:rPr>
              <a:t>CRUD API </a:t>
            </a:r>
            <a:r>
              <a:rPr lang="ko-KR" altLang="en-US" sz="1600" dirty="0" smtClean="0">
                <a:latin typeface="Yu Gothic UI" panose="020B0500000000000000" pitchFamily="34" charset="-128"/>
              </a:rPr>
              <a:t>구현</a:t>
            </a:r>
            <a:endParaRPr lang="en-US" altLang="ko-KR" sz="1600" dirty="0" smtClean="0">
              <a:latin typeface="Yu Gothic UI" panose="020B0500000000000000" pitchFamily="34" charset="-128"/>
            </a:endParaRPr>
          </a:p>
          <a:p>
            <a:r>
              <a:rPr lang="en-US" altLang="ko-KR" sz="1600" dirty="0" smtClean="0">
                <a:latin typeface="Yu Gothic UI" panose="020B0500000000000000" pitchFamily="34" charset="-128"/>
              </a:rPr>
              <a:t>&gt; AI</a:t>
            </a:r>
            <a:r>
              <a:rPr lang="ko-KR" altLang="en-US" sz="1600" dirty="0" smtClean="0">
                <a:latin typeface="Yu Gothic UI" panose="020B0500000000000000" pitchFamily="34" charset="-128"/>
              </a:rPr>
              <a:t>에게 조언 구하기 기능 구현</a:t>
            </a:r>
            <a:endParaRPr lang="en-US" altLang="ko-KR" sz="1600" dirty="0" smtClean="0">
              <a:latin typeface="Yu Gothic UI" panose="020B0500000000000000" pitchFamily="34" charset="-128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722077" y="2959782"/>
            <a:ext cx="3571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업무 분담</a:t>
            </a:r>
            <a:endParaRPr lang="ko-KR" altLang="en-US" b="1" dirty="0">
              <a:latin typeface="Yu Gothic UI" panose="020B0500000000000000" pitchFamily="34" charset="-128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22077" y="1418614"/>
            <a:ext cx="3571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팀 성과</a:t>
            </a:r>
            <a:endParaRPr lang="ko-KR" altLang="en-US" b="1" dirty="0">
              <a:latin typeface="Yu Gothic UI" panose="020B0500000000000000" pitchFamily="34" charset="-128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73891" y="308919"/>
            <a:ext cx="39276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600" b="1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FTF </a:t>
            </a:r>
            <a:r>
              <a:rPr lang="ko-KR" altLang="en-US" sz="3600" b="1" dirty="0" smtClean="0">
                <a:latin typeface="Yu Gothic UI" panose="020B0500000000000000" pitchFamily="34" charset="-128"/>
              </a:rPr>
              <a:t>프로젝트 소개</a:t>
            </a:r>
            <a:endParaRPr lang="ko-KR" altLang="en-US" sz="3600" b="1" dirty="0">
              <a:latin typeface="Yu Gothic UI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75125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1309816" y="1297459"/>
            <a:ext cx="9638270" cy="49921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모서리가 둥근 직사각형 8"/>
          <p:cNvSpPr/>
          <p:nvPr/>
        </p:nvSpPr>
        <p:spPr>
          <a:xfrm>
            <a:off x="3661228" y="2131574"/>
            <a:ext cx="4412323" cy="2377936"/>
          </a:xfrm>
          <a:prstGeom prst="roundRect">
            <a:avLst/>
          </a:prstGeom>
          <a:noFill/>
          <a:ln w="285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1173891" y="308919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아키텍처</a:t>
            </a:r>
            <a:endParaRPr lang="ko-KR" altLang="en-US" sz="3600" b="1" dirty="0">
              <a:latin typeface="Yu Gothic UI" panose="020B0500000000000000" pitchFamily="34" charset="-128"/>
            </a:endParaRPr>
          </a:p>
        </p:txBody>
      </p:sp>
      <p:pic>
        <p:nvPicPr>
          <p:cNvPr id="1034" name="Picture 10" descr="구글 크롬 - 소셜 미디어 및 로고 아이콘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3238" y="2193153"/>
            <a:ext cx="475200" cy="47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1431249" y="2633673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클라이언트</a:t>
            </a:r>
            <a:endParaRPr lang="ko-KR" altLang="en-US" sz="1600" b="1" dirty="0">
              <a:latin typeface="Yu Gothic UI" panose="020B0500000000000000" pitchFamily="34" charset="-128"/>
            </a:endParaRPr>
          </a:p>
        </p:txBody>
      </p:sp>
      <p:pic>
        <p:nvPicPr>
          <p:cNvPr id="1036" name="Picture 12" descr="How to: Install MacOS driver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3019" y="1573602"/>
            <a:ext cx="475792" cy="475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4330457" y="1793020"/>
            <a:ext cx="14093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600" b="1" dirty="0" smtClean="0"/>
              <a:t>서버</a:t>
            </a:r>
            <a:r>
              <a:rPr lang="en-US" altLang="ko-KR" sz="1600" b="1" dirty="0" smtClean="0"/>
              <a:t>(</a:t>
            </a:r>
            <a:r>
              <a:rPr lang="en-US" altLang="ko-KR" sz="1600" b="1" dirty="0" err="1" smtClean="0"/>
              <a:t>MacPC</a:t>
            </a:r>
            <a:r>
              <a:rPr lang="en-US" altLang="ko-KR" sz="1600" b="1" dirty="0" smtClean="0"/>
              <a:t>)</a:t>
            </a:r>
            <a:endParaRPr lang="ko-KR" altLang="en-US" sz="1600" b="1" dirty="0"/>
          </a:p>
        </p:txBody>
      </p:sp>
      <p:pic>
        <p:nvPicPr>
          <p:cNvPr id="1038" name="Picture 14" descr="Spring boot 아이콘, 로고, 기호 – PNG, SVG 무료 다운로드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014" y="2380962"/>
            <a:ext cx="475200" cy="47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3883896" y="2842703"/>
            <a:ext cx="12330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err="1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SpringBoot</a:t>
            </a:r>
            <a:endParaRPr lang="ko-KR" altLang="en-US" sz="1600" b="1" dirty="0">
              <a:latin typeface="Yu Gothic UI" panose="020B0500000000000000" pitchFamily="34" charset="-128"/>
            </a:endParaRPr>
          </a:p>
        </p:txBody>
      </p:sp>
      <p:pic>
        <p:nvPicPr>
          <p:cNvPr id="1040" name="Picture 16" descr="Official MariaDB Logos | MariaDB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6094" y="2327140"/>
            <a:ext cx="582954" cy="47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" name="직선 화살표 연결선 19"/>
          <p:cNvCxnSpPr/>
          <p:nvPr/>
        </p:nvCxnSpPr>
        <p:spPr>
          <a:xfrm>
            <a:off x="5152715" y="2528034"/>
            <a:ext cx="744102" cy="0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2" name="Picture 18" descr="Redis 아이콘, 로고, 기호 – PNG, SVG 무료 다운로드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9971" y="3030482"/>
            <a:ext cx="475200" cy="47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직선 화살표 연결선 21"/>
          <p:cNvCxnSpPr/>
          <p:nvPr/>
        </p:nvCxnSpPr>
        <p:spPr>
          <a:xfrm>
            <a:off x="5249469" y="2826999"/>
            <a:ext cx="647348" cy="300436"/>
          </a:xfrm>
          <a:prstGeom prst="straightConnector1">
            <a:avLst/>
          </a:prstGeom>
          <a:ln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924368" y="3463593"/>
            <a:ext cx="6864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err="1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Redis</a:t>
            </a:r>
            <a:endParaRPr lang="ko-KR" altLang="en-US" sz="1600" b="1" dirty="0">
              <a:latin typeface="Yu Gothic UI" panose="020B0500000000000000" pitchFamily="34" charset="-128"/>
            </a:endParaRPr>
          </a:p>
        </p:txBody>
      </p:sp>
      <p:cxnSp>
        <p:nvCxnSpPr>
          <p:cNvPr id="17" name="직선 화살표 연결선 16"/>
          <p:cNvCxnSpPr/>
          <p:nvPr/>
        </p:nvCxnSpPr>
        <p:spPr>
          <a:xfrm>
            <a:off x="2438871" y="2430753"/>
            <a:ext cx="1173892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모서리가 둥근 직사각형 17"/>
          <p:cNvSpPr/>
          <p:nvPr/>
        </p:nvSpPr>
        <p:spPr>
          <a:xfrm>
            <a:off x="3869169" y="2172582"/>
            <a:ext cx="1211064" cy="1008676"/>
          </a:xfrm>
          <a:prstGeom prst="roundRect">
            <a:avLst/>
          </a:prstGeom>
          <a:noFill/>
          <a:ln w="28575">
            <a:solidFill>
              <a:schemeClr val="bg1">
                <a:lumMod val="6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bg1">
                    <a:lumMod val="75000"/>
                  </a:schemeClr>
                </a:solidFill>
              </a:ln>
              <a:noFill/>
            </a:endParaRPr>
          </a:p>
        </p:txBody>
      </p:sp>
      <p:pic>
        <p:nvPicPr>
          <p:cNvPr id="1044" name="Picture 20" descr="File:Jenkins logo.svg - Wikimedia Commons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6502" y="3334977"/>
            <a:ext cx="344140" cy="47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29"/>
          <p:cNvSpPr txBox="1"/>
          <p:nvPr/>
        </p:nvSpPr>
        <p:spPr>
          <a:xfrm>
            <a:off x="5083545" y="3728469"/>
            <a:ext cx="8643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Jenkins</a:t>
            </a:r>
            <a:endParaRPr lang="ko-KR" altLang="en-US" sz="1600" b="1" dirty="0">
              <a:latin typeface="Yu Gothic UI" panose="020B0500000000000000" pitchFamily="34" charset="-128"/>
            </a:endParaRPr>
          </a:p>
        </p:txBody>
      </p:sp>
      <p:cxnSp>
        <p:nvCxnSpPr>
          <p:cNvPr id="21" name="꺾인 연결선 20"/>
          <p:cNvCxnSpPr/>
          <p:nvPr/>
        </p:nvCxnSpPr>
        <p:spPr>
          <a:xfrm rot="16200000" flipV="1">
            <a:off x="4699814" y="3285765"/>
            <a:ext cx="496475" cy="409327"/>
          </a:xfrm>
          <a:prstGeom prst="bentConnector3">
            <a:avLst>
              <a:gd name="adj1" fmla="val 22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7007476" y="18114217"/>
            <a:ext cx="1146468" cy="5004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Deploy / build</a:t>
            </a:r>
            <a:endParaRPr lang="ko-KR" altLang="en-US" sz="1200" dirty="0">
              <a:latin typeface="Yu Gothic UI" panose="020B0500000000000000" pitchFamily="34" charset="-128"/>
            </a:endParaRPr>
          </a:p>
        </p:txBody>
      </p:sp>
      <p:pic>
        <p:nvPicPr>
          <p:cNvPr id="1046" name="Picture 22" descr="파일:IntelliJ IDEA Icon.svg - 위키백과, 우리 모두의 백과사전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185" y="5006980"/>
            <a:ext cx="475200" cy="47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Box 39"/>
          <p:cNvSpPr txBox="1"/>
          <p:nvPr/>
        </p:nvSpPr>
        <p:spPr>
          <a:xfrm>
            <a:off x="6832292" y="5449086"/>
            <a:ext cx="780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intelliJ</a:t>
            </a:r>
            <a:endParaRPr lang="ko-KR" altLang="en-US" sz="1600" b="1" dirty="0">
              <a:latin typeface="Yu Gothic UI" panose="020B0500000000000000" pitchFamily="34" charset="-128"/>
            </a:endParaRPr>
          </a:p>
        </p:txBody>
      </p:sp>
      <p:pic>
        <p:nvPicPr>
          <p:cNvPr id="1048" name="Picture 24" descr="Github Logo - Free social media icons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7860" y="5000635"/>
            <a:ext cx="475200" cy="47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TextBox 41"/>
          <p:cNvSpPr txBox="1"/>
          <p:nvPr/>
        </p:nvSpPr>
        <p:spPr>
          <a:xfrm>
            <a:off x="4226935" y="5445093"/>
            <a:ext cx="8178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 err="1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Github</a:t>
            </a:r>
            <a:endParaRPr lang="ko-KR" altLang="en-US" sz="1600" b="1" dirty="0">
              <a:latin typeface="Yu Gothic UI" panose="020B0500000000000000" pitchFamily="34" charset="-128"/>
            </a:endParaRPr>
          </a:p>
        </p:txBody>
      </p:sp>
      <p:cxnSp>
        <p:nvCxnSpPr>
          <p:cNvPr id="34" name="직선 화살표 연결선 33"/>
          <p:cNvCxnSpPr/>
          <p:nvPr/>
        </p:nvCxnSpPr>
        <p:spPr>
          <a:xfrm flipH="1">
            <a:off x="5065953" y="5257617"/>
            <a:ext cx="1766339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013904" y="4971251"/>
            <a:ext cx="5132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push</a:t>
            </a:r>
            <a:endParaRPr lang="ko-KR" altLang="en-US" sz="1200" dirty="0">
              <a:latin typeface="Yu Gothic UI" panose="020B0500000000000000" pitchFamily="34" charset="-128"/>
            </a:endParaRPr>
          </a:p>
        </p:txBody>
      </p:sp>
      <p:sp>
        <p:nvSpPr>
          <p:cNvPr id="47" name="모서리가 둥근 직사각형 46"/>
          <p:cNvSpPr/>
          <p:nvPr/>
        </p:nvSpPr>
        <p:spPr>
          <a:xfrm>
            <a:off x="6445997" y="4067022"/>
            <a:ext cx="3049872" cy="1828329"/>
          </a:xfrm>
          <a:prstGeom prst="roundRect">
            <a:avLst/>
          </a:prstGeom>
          <a:noFill/>
          <a:ln w="285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/>
          <p:cNvSpPr txBox="1"/>
          <p:nvPr/>
        </p:nvSpPr>
        <p:spPr>
          <a:xfrm>
            <a:off x="8941915" y="3716689"/>
            <a:ext cx="5116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600" b="1" dirty="0" smtClean="0"/>
              <a:t>IDE</a:t>
            </a:r>
            <a:endParaRPr lang="ko-KR" altLang="en-US" sz="1600" b="1" dirty="0"/>
          </a:p>
        </p:txBody>
      </p:sp>
      <p:cxnSp>
        <p:nvCxnSpPr>
          <p:cNvPr id="41" name="꺾인 연결선 40"/>
          <p:cNvCxnSpPr>
            <a:endCxn id="30" idx="2"/>
          </p:cNvCxnSpPr>
          <p:nvPr/>
        </p:nvCxnSpPr>
        <p:spPr>
          <a:xfrm rot="16200000" flipV="1">
            <a:off x="5088915" y="4493824"/>
            <a:ext cx="1181227" cy="32762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487689" y="4314691"/>
            <a:ext cx="8082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webhook</a:t>
            </a:r>
            <a:endParaRPr lang="ko-KR" altLang="en-US" sz="1200" dirty="0">
              <a:latin typeface="Yu Gothic UI" panose="020B0500000000000000" pitchFamily="34" charset="-128"/>
            </a:endParaRPr>
          </a:p>
        </p:txBody>
      </p:sp>
      <p:pic>
        <p:nvPicPr>
          <p:cNvPr id="6" name="Picture 2" descr="Pc - 무료 컴퓨터개 아이콘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0913" y="5007417"/>
            <a:ext cx="500400" cy="5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/>
          <p:cNvSpPr txBox="1"/>
          <p:nvPr/>
        </p:nvSpPr>
        <p:spPr>
          <a:xfrm>
            <a:off x="8587868" y="5449086"/>
            <a:ext cx="780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PC</a:t>
            </a:r>
            <a:endParaRPr lang="ko-KR" altLang="en-US" sz="1600" b="1" dirty="0">
              <a:latin typeface="Yu Gothic UI" panose="020B0500000000000000" pitchFamily="34" charset="-128"/>
            </a:endParaRPr>
          </a:p>
        </p:txBody>
      </p:sp>
      <p:cxnSp>
        <p:nvCxnSpPr>
          <p:cNvPr id="39" name="직선 화살표 연결선 38"/>
          <p:cNvCxnSpPr/>
          <p:nvPr/>
        </p:nvCxnSpPr>
        <p:spPr>
          <a:xfrm flipH="1" flipV="1">
            <a:off x="7613275" y="5277965"/>
            <a:ext cx="838559" cy="1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771178" y="5016864"/>
            <a:ext cx="6511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coding</a:t>
            </a:r>
            <a:endParaRPr lang="ko-KR" altLang="en-US" sz="1200" dirty="0">
              <a:latin typeface="Yu Gothic UI" panose="020B0500000000000000" pitchFamily="34" charset="-128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451393" y="3068627"/>
            <a:ext cx="724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Session,</a:t>
            </a:r>
          </a:p>
          <a:p>
            <a:r>
              <a:rPr lang="en-US" altLang="ko-KR" sz="1200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Cache</a:t>
            </a:r>
            <a:endParaRPr lang="ko-KR" altLang="en-US" sz="1200" dirty="0">
              <a:latin typeface="Yu Gothic UI" panose="020B0500000000000000" pitchFamily="34" charset="-128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526365" y="2414599"/>
            <a:ext cx="5020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Data</a:t>
            </a:r>
            <a:endParaRPr lang="ko-KR" altLang="en-US" sz="1200" dirty="0">
              <a:latin typeface="Yu Gothic UI" panose="020B0500000000000000" pitchFamily="34" charset="-128"/>
            </a:endParaRPr>
          </a:p>
        </p:txBody>
      </p:sp>
      <p:cxnSp>
        <p:nvCxnSpPr>
          <p:cNvPr id="50" name="직선 화살표 연결선 49"/>
          <p:cNvCxnSpPr/>
          <p:nvPr/>
        </p:nvCxnSpPr>
        <p:spPr>
          <a:xfrm flipH="1" flipV="1">
            <a:off x="5891806" y="3685847"/>
            <a:ext cx="2560029" cy="13506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612763" y="3421004"/>
            <a:ext cx="11464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Deploy / build</a:t>
            </a:r>
            <a:endParaRPr lang="ko-KR" altLang="en-US" sz="1200" dirty="0">
              <a:latin typeface="Yu Gothic UI" panose="020B0500000000000000" pitchFamily="34" charset="-128"/>
            </a:endParaRPr>
          </a:p>
        </p:txBody>
      </p:sp>
      <p:pic>
        <p:nvPicPr>
          <p:cNvPr id="1028" name="Picture 4" descr="파일:DBeaver logo.svg - 위키백과, 우리 모두의 백과사전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6202" y="4162009"/>
            <a:ext cx="500400" cy="5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TextBox 52"/>
          <p:cNvSpPr txBox="1"/>
          <p:nvPr/>
        </p:nvSpPr>
        <p:spPr>
          <a:xfrm>
            <a:off x="8268788" y="4613863"/>
            <a:ext cx="9913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DBeaver</a:t>
            </a:r>
            <a:endParaRPr lang="ko-KR" altLang="en-US" sz="1600" b="1" dirty="0">
              <a:latin typeface="Yu Gothic UI" panose="020B0500000000000000" pitchFamily="34" charset="-128"/>
            </a:endParaRPr>
          </a:p>
        </p:txBody>
      </p:sp>
      <p:cxnSp>
        <p:nvCxnSpPr>
          <p:cNvPr id="19" name="꺾인 연결선 18"/>
          <p:cNvCxnSpPr>
            <a:endCxn id="45" idx="3"/>
          </p:cNvCxnSpPr>
          <p:nvPr/>
        </p:nvCxnSpPr>
        <p:spPr>
          <a:xfrm rot="16200000" flipV="1">
            <a:off x="6926235" y="2655290"/>
            <a:ext cx="1555088" cy="135070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399685" y="2942076"/>
            <a:ext cx="10054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err="1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DataControl</a:t>
            </a:r>
            <a:endParaRPr lang="ko-KR" altLang="en-US" sz="1200" dirty="0">
              <a:latin typeface="Yu Gothic UI" panose="020B0500000000000000" pitchFamily="34" charset="-128"/>
            </a:endParaRPr>
          </a:p>
        </p:txBody>
      </p:sp>
      <p:pic>
        <p:nvPicPr>
          <p:cNvPr id="26" name="Picture 10" descr="Discord Logo, symbol, meaning, history, PNG, brand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8644" y="5016864"/>
            <a:ext cx="889600" cy="5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9" name="직선 화살표 연결선 58"/>
          <p:cNvCxnSpPr/>
          <p:nvPr/>
        </p:nvCxnSpPr>
        <p:spPr>
          <a:xfrm>
            <a:off x="9159908" y="5267064"/>
            <a:ext cx="63846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9024192" y="4990065"/>
            <a:ext cx="107433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collaboration</a:t>
            </a:r>
            <a:endParaRPr lang="ko-KR" altLang="en-US" sz="1200" dirty="0">
              <a:latin typeface="Yu Gothic UI" panose="020B0500000000000000" pitchFamily="34" charset="-128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6508524" y="4556975"/>
            <a:ext cx="11464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Deploy / build</a:t>
            </a:r>
            <a:endParaRPr lang="ko-KR" altLang="en-US" sz="1200" dirty="0">
              <a:latin typeface="Yu Gothic UI" panose="020B05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44002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4559644" y="1631092"/>
            <a:ext cx="2656702" cy="4794422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173891" y="308919"/>
            <a:ext cx="3982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화면 설계 </a:t>
            </a:r>
            <a:r>
              <a:rPr lang="en-US" altLang="ko-KR" sz="3600" b="1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- </a:t>
            </a:r>
            <a:r>
              <a:rPr lang="ko-KR" altLang="en-US" sz="3600" b="1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로그인</a:t>
            </a:r>
            <a:endParaRPr lang="ko-KR" altLang="en-US" sz="3600" b="1" dirty="0">
              <a:latin typeface="Yu Gothic UI" panose="020B0500000000000000" pitchFamily="34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17353" y="1099751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DEVICE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4942703" y="2323070"/>
            <a:ext cx="1940011" cy="234778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417353" y="2458995"/>
            <a:ext cx="804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LOGO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5270158" y="2990336"/>
            <a:ext cx="1186248" cy="22242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ID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5270158" y="3281747"/>
            <a:ext cx="1186248" cy="22242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PW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5270158" y="3682314"/>
            <a:ext cx="1186248" cy="3459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mtClean="0"/>
              <a:t>로그인</a:t>
            </a:r>
            <a:endParaRPr lang="ko-KR" altLang="en-US" sz="1400"/>
          </a:p>
        </p:txBody>
      </p:sp>
      <p:cxnSp>
        <p:nvCxnSpPr>
          <p:cNvPr id="13" name="직선 연결선 12"/>
          <p:cNvCxnSpPr/>
          <p:nvPr/>
        </p:nvCxnSpPr>
        <p:spPr>
          <a:xfrm>
            <a:off x="5270158" y="4206448"/>
            <a:ext cx="132835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06745" y="4246094"/>
            <a:ext cx="11624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smtClean="0"/>
              <a:t>비밀번호 찾기</a:t>
            </a:r>
            <a:endParaRPr lang="ko-KR" altLang="en-US" sz="1200" dirty="0"/>
          </a:p>
        </p:txBody>
      </p:sp>
      <p:sp>
        <p:nvSpPr>
          <p:cNvPr id="15" name="직사각형 14"/>
          <p:cNvSpPr/>
          <p:nvPr/>
        </p:nvSpPr>
        <p:spPr>
          <a:xfrm>
            <a:off x="4942703" y="5096136"/>
            <a:ext cx="1940011" cy="56325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mtClean="0">
                <a:solidFill>
                  <a:schemeClr val="tx1"/>
                </a:solidFill>
              </a:rPr>
              <a:t>회원가입</a:t>
            </a:r>
            <a:endParaRPr lang="ko-KR" altLang="en-US" sz="1400">
              <a:solidFill>
                <a:schemeClr val="tx1"/>
              </a:solidFill>
            </a:endParaRPr>
          </a:p>
        </p:txBody>
      </p:sp>
      <p:cxnSp>
        <p:nvCxnSpPr>
          <p:cNvPr id="19" name="직선 연결선 18"/>
          <p:cNvCxnSpPr/>
          <p:nvPr/>
        </p:nvCxnSpPr>
        <p:spPr>
          <a:xfrm>
            <a:off x="7001691" y="5486400"/>
            <a:ext cx="1031966" cy="1729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033657" y="5572897"/>
            <a:ext cx="974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/signup</a:t>
            </a:r>
            <a:endParaRPr lang="ko-KR" altLang="en-US" dirty="0"/>
          </a:p>
        </p:txBody>
      </p:sp>
      <p:cxnSp>
        <p:nvCxnSpPr>
          <p:cNvPr id="21" name="직선 연결선 20"/>
          <p:cNvCxnSpPr/>
          <p:nvPr/>
        </p:nvCxnSpPr>
        <p:spPr>
          <a:xfrm>
            <a:off x="6567439" y="3820812"/>
            <a:ext cx="1142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033657" y="3636146"/>
            <a:ext cx="1461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/login (Post)</a:t>
            </a:r>
            <a:endParaRPr lang="ko-KR" altLang="en-US" dirty="0"/>
          </a:p>
        </p:txBody>
      </p:sp>
      <p:cxnSp>
        <p:nvCxnSpPr>
          <p:cNvPr id="24" name="직선 연결선 23"/>
          <p:cNvCxnSpPr/>
          <p:nvPr/>
        </p:nvCxnSpPr>
        <p:spPr>
          <a:xfrm>
            <a:off x="6567439" y="4376607"/>
            <a:ext cx="1142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033657" y="4191941"/>
            <a:ext cx="198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/forgot-password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3024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4559644" y="1631092"/>
            <a:ext cx="2656702" cy="4794422"/>
          </a:xfrm>
          <a:prstGeom prst="rect">
            <a:avLst/>
          </a:prstGeom>
          <a:noFill/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173891" y="308919"/>
            <a:ext cx="44438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화면 설계 </a:t>
            </a:r>
            <a:r>
              <a:rPr lang="en-US" altLang="ko-KR" sz="3600" b="1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- </a:t>
            </a:r>
            <a:r>
              <a:rPr lang="ko-KR" altLang="en-US" sz="3600" b="1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회원가입</a:t>
            </a:r>
            <a:endParaRPr lang="ko-KR" altLang="en-US" sz="3600" b="1" dirty="0">
              <a:latin typeface="Yu Gothic UI" panose="020B0500000000000000" pitchFamily="34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17353" y="1099751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DEVICE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4942703" y="1852807"/>
            <a:ext cx="1940011" cy="312414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5417353" y="1988732"/>
            <a:ext cx="804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LOGO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5270158" y="2520073"/>
            <a:ext cx="1186248" cy="22242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ID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5270158" y="2811484"/>
            <a:ext cx="1186248" cy="22242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이름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모서리가 둥근 직사각형 10"/>
          <p:cNvSpPr/>
          <p:nvPr/>
        </p:nvSpPr>
        <p:spPr>
          <a:xfrm>
            <a:off x="5270158" y="4424304"/>
            <a:ext cx="1186248" cy="34598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/>
              <a:t>회원가입</a:t>
            </a:r>
            <a:endParaRPr lang="ko-KR" altLang="en-US" sz="1400" dirty="0"/>
          </a:p>
        </p:txBody>
      </p:sp>
      <p:sp>
        <p:nvSpPr>
          <p:cNvPr id="15" name="직사각형 14"/>
          <p:cNvSpPr/>
          <p:nvPr/>
        </p:nvSpPr>
        <p:spPr>
          <a:xfrm>
            <a:off x="4942703" y="5337934"/>
            <a:ext cx="1940011" cy="563259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smtClean="0">
                <a:solidFill>
                  <a:schemeClr val="tx1"/>
                </a:solidFill>
              </a:rPr>
              <a:t>로그인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270158" y="3126926"/>
            <a:ext cx="1186248" cy="22242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별명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5270158" y="3418337"/>
            <a:ext cx="1186248" cy="22242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이메일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5270158" y="3706240"/>
            <a:ext cx="1186248" cy="222422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PW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9" name="직선 연결선 18"/>
          <p:cNvCxnSpPr/>
          <p:nvPr/>
        </p:nvCxnSpPr>
        <p:spPr>
          <a:xfrm>
            <a:off x="6541313" y="4585627"/>
            <a:ext cx="1142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007531" y="4400961"/>
            <a:ext cx="1555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/signup(Post)</a:t>
            </a:r>
            <a:endParaRPr lang="ko-KR" alt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6416569" y="2323530"/>
            <a:ext cx="55976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600" dirty="0" smtClean="0"/>
              <a:t>}</a:t>
            </a:r>
            <a:endParaRPr lang="ko-KR" altLang="en-US" sz="9600" dirty="0"/>
          </a:p>
        </p:txBody>
      </p:sp>
      <p:cxnSp>
        <p:nvCxnSpPr>
          <p:cNvPr id="21" name="직선 연결선 20"/>
          <p:cNvCxnSpPr/>
          <p:nvPr/>
        </p:nvCxnSpPr>
        <p:spPr>
          <a:xfrm>
            <a:off x="6882714" y="3238137"/>
            <a:ext cx="1142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7985044" y="3053471"/>
            <a:ext cx="930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/>
              <a:t>User.vo</a:t>
            </a:r>
            <a:endParaRPr lang="ko-KR" altLang="en-US" dirty="0"/>
          </a:p>
        </p:txBody>
      </p:sp>
      <p:cxnSp>
        <p:nvCxnSpPr>
          <p:cNvPr id="22" name="직선 연결선 21"/>
          <p:cNvCxnSpPr/>
          <p:nvPr/>
        </p:nvCxnSpPr>
        <p:spPr>
          <a:xfrm>
            <a:off x="6416569" y="5619563"/>
            <a:ext cx="11429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007531" y="5420658"/>
            <a:ext cx="798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/login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57739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73891" y="308919"/>
            <a:ext cx="35205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화면 설계 </a:t>
            </a:r>
            <a:r>
              <a:rPr lang="en-US" altLang="ko-KR" sz="3600" b="1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- </a:t>
            </a:r>
            <a:r>
              <a:rPr lang="ko-KR" altLang="en-US" sz="3600" b="1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메인</a:t>
            </a:r>
            <a:endParaRPr lang="ko-KR" altLang="en-US" sz="3600" b="1" dirty="0">
              <a:latin typeface="Yu Gothic UI" panose="020B0500000000000000" pitchFamily="34" charset="-128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2810887" y="1099751"/>
            <a:ext cx="9045030" cy="5325763"/>
            <a:chOff x="2810887" y="1099751"/>
            <a:chExt cx="9045030" cy="5325763"/>
          </a:xfrm>
        </p:grpSpPr>
        <p:sp>
          <p:nvSpPr>
            <p:cNvPr id="5" name="직사각형 4"/>
            <p:cNvSpPr/>
            <p:nvPr/>
          </p:nvSpPr>
          <p:spPr>
            <a:xfrm>
              <a:off x="4559644" y="1631092"/>
              <a:ext cx="2656702" cy="4794422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5417353" y="1099751"/>
              <a:ext cx="9412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 smtClean="0"/>
                <a:t>DEVICE</a:t>
              </a:r>
              <a:endParaRPr lang="ko-KR" altLang="en-US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779160" y="1736405"/>
              <a:ext cx="1358064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50" smtClean="0"/>
                <a:t>별명 님 안녕하세요</a:t>
              </a:r>
              <a:endParaRPr lang="ko-KR" altLang="en-US" sz="1050"/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4694407" y="2181497"/>
              <a:ext cx="2372599" cy="1110343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grpSp>
          <p:nvGrpSpPr>
            <p:cNvPr id="27" name="그룹 26"/>
            <p:cNvGrpSpPr/>
            <p:nvPr/>
          </p:nvGrpSpPr>
          <p:grpSpPr>
            <a:xfrm>
              <a:off x="4694407" y="1814855"/>
              <a:ext cx="261257" cy="182880"/>
              <a:chOff x="1436914" y="2181497"/>
              <a:chExt cx="261257" cy="182880"/>
            </a:xfrm>
          </p:grpSpPr>
          <p:cxnSp>
            <p:nvCxnSpPr>
              <p:cNvPr id="24" name="직선 연결선 23"/>
              <p:cNvCxnSpPr/>
              <p:nvPr/>
            </p:nvCxnSpPr>
            <p:spPr>
              <a:xfrm>
                <a:off x="1436914" y="2181497"/>
                <a:ext cx="26125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직선 연결선 24"/>
              <p:cNvCxnSpPr/>
              <p:nvPr/>
            </p:nvCxnSpPr>
            <p:spPr>
              <a:xfrm>
                <a:off x="1436914" y="2272937"/>
                <a:ext cx="26125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직선 연결선 25"/>
              <p:cNvCxnSpPr/>
              <p:nvPr/>
            </p:nvCxnSpPr>
            <p:spPr>
              <a:xfrm>
                <a:off x="1436914" y="2364377"/>
                <a:ext cx="261257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TextBox 27"/>
            <p:cNvSpPr txBox="1"/>
            <p:nvPr/>
          </p:nvSpPr>
          <p:spPr>
            <a:xfrm>
              <a:off x="4694407" y="2235619"/>
              <a:ext cx="54373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 smtClean="0"/>
                <a:t>섹션</a:t>
              </a:r>
              <a:r>
                <a:rPr lang="en-US" altLang="ko-KR" sz="1100" dirty="0" smtClean="0"/>
                <a:t>1</a:t>
              </a:r>
              <a:endParaRPr lang="ko-KR" altLang="en-US" sz="1100" dirty="0"/>
            </a:p>
          </p:txBody>
        </p:sp>
        <p:cxnSp>
          <p:nvCxnSpPr>
            <p:cNvPr id="29" name="직선 연결선 28"/>
            <p:cNvCxnSpPr/>
            <p:nvPr/>
          </p:nvCxnSpPr>
          <p:spPr>
            <a:xfrm flipV="1">
              <a:off x="4717786" y="2510084"/>
              <a:ext cx="2349220" cy="2431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타원 30"/>
            <p:cNvSpPr/>
            <p:nvPr/>
          </p:nvSpPr>
          <p:spPr>
            <a:xfrm>
              <a:off x="4825035" y="2582138"/>
              <a:ext cx="496388" cy="496388"/>
            </a:xfrm>
            <a:prstGeom prst="ellips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2" name="타원 31"/>
            <p:cNvSpPr/>
            <p:nvPr/>
          </p:nvSpPr>
          <p:spPr>
            <a:xfrm>
              <a:off x="5632512" y="2582138"/>
              <a:ext cx="496388" cy="496388"/>
            </a:xfrm>
            <a:prstGeom prst="ellips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3" name="타원 32"/>
            <p:cNvSpPr/>
            <p:nvPr/>
          </p:nvSpPr>
          <p:spPr>
            <a:xfrm>
              <a:off x="6439989" y="2582138"/>
              <a:ext cx="496388" cy="496388"/>
            </a:xfrm>
            <a:prstGeom prst="ellips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825035" y="3032308"/>
              <a:ext cx="54373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 smtClean="0"/>
                <a:t>item1</a:t>
              </a:r>
              <a:endParaRPr lang="ko-KR" altLang="en-US" sz="1100" dirty="0"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5614242" y="3032308"/>
              <a:ext cx="54373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 smtClean="0"/>
                <a:t>item2</a:t>
              </a:r>
              <a:endParaRPr lang="ko-KR" altLang="en-US" sz="1100" dirty="0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433230" y="3032308"/>
              <a:ext cx="54373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 smtClean="0"/>
                <a:t>item3</a:t>
              </a:r>
              <a:endParaRPr lang="ko-KR" altLang="en-US" sz="1100" dirty="0"/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4694407" y="3506816"/>
              <a:ext cx="2372599" cy="1110343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4694407" y="3560938"/>
              <a:ext cx="54373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 smtClean="0"/>
                <a:t>섹션</a:t>
              </a:r>
              <a:r>
                <a:rPr lang="en-US" altLang="ko-KR" sz="1100" dirty="0" smtClean="0"/>
                <a:t>2</a:t>
              </a:r>
              <a:endParaRPr lang="ko-KR" altLang="en-US" sz="1100" dirty="0"/>
            </a:p>
          </p:txBody>
        </p:sp>
        <p:cxnSp>
          <p:nvCxnSpPr>
            <p:cNvPr id="39" name="직선 연결선 38"/>
            <p:cNvCxnSpPr/>
            <p:nvPr/>
          </p:nvCxnSpPr>
          <p:spPr>
            <a:xfrm flipV="1">
              <a:off x="4717786" y="3835403"/>
              <a:ext cx="2349220" cy="2431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타원 39"/>
            <p:cNvSpPr/>
            <p:nvPr/>
          </p:nvSpPr>
          <p:spPr>
            <a:xfrm>
              <a:off x="4825035" y="3907457"/>
              <a:ext cx="496388" cy="496388"/>
            </a:xfrm>
            <a:prstGeom prst="ellips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1" name="타원 40"/>
            <p:cNvSpPr/>
            <p:nvPr/>
          </p:nvSpPr>
          <p:spPr>
            <a:xfrm>
              <a:off x="5632512" y="3907457"/>
              <a:ext cx="496388" cy="496388"/>
            </a:xfrm>
            <a:prstGeom prst="ellips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2" name="타원 41"/>
            <p:cNvSpPr/>
            <p:nvPr/>
          </p:nvSpPr>
          <p:spPr>
            <a:xfrm>
              <a:off x="6439989" y="3907457"/>
              <a:ext cx="496388" cy="496388"/>
            </a:xfrm>
            <a:prstGeom prst="ellips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825035" y="4357627"/>
              <a:ext cx="54373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 smtClean="0"/>
                <a:t>item1</a:t>
              </a:r>
              <a:endParaRPr lang="ko-KR" altLang="en-US" sz="1100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614242" y="4357627"/>
              <a:ext cx="54373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 smtClean="0"/>
                <a:t>item2</a:t>
              </a:r>
              <a:endParaRPr lang="ko-KR" altLang="en-US" sz="1100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433230" y="4357627"/>
              <a:ext cx="54373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 smtClean="0"/>
                <a:t>item3</a:t>
              </a:r>
              <a:endParaRPr lang="ko-KR" altLang="en-US" sz="1100" dirty="0"/>
            </a:p>
          </p:txBody>
        </p:sp>
        <p:sp>
          <p:nvSpPr>
            <p:cNvPr id="46" name="직사각형 45"/>
            <p:cNvSpPr/>
            <p:nvPr/>
          </p:nvSpPr>
          <p:spPr>
            <a:xfrm>
              <a:off x="4694407" y="4804680"/>
              <a:ext cx="2372599" cy="1110343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694407" y="4858802"/>
              <a:ext cx="54373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100" dirty="0" smtClean="0"/>
                <a:t>섹션</a:t>
              </a:r>
              <a:r>
                <a:rPr lang="en-US" altLang="ko-KR" sz="1100" dirty="0" smtClean="0"/>
                <a:t>3</a:t>
              </a:r>
              <a:endParaRPr lang="ko-KR" altLang="en-US" sz="1100" dirty="0"/>
            </a:p>
          </p:txBody>
        </p:sp>
        <p:cxnSp>
          <p:nvCxnSpPr>
            <p:cNvPr id="48" name="직선 연결선 47"/>
            <p:cNvCxnSpPr/>
            <p:nvPr/>
          </p:nvCxnSpPr>
          <p:spPr>
            <a:xfrm flipV="1">
              <a:off x="4717786" y="5133267"/>
              <a:ext cx="2349220" cy="2431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타원 48"/>
            <p:cNvSpPr/>
            <p:nvPr/>
          </p:nvSpPr>
          <p:spPr>
            <a:xfrm>
              <a:off x="4825035" y="5205321"/>
              <a:ext cx="496388" cy="496388"/>
            </a:xfrm>
            <a:prstGeom prst="ellips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0" name="타원 49"/>
            <p:cNvSpPr/>
            <p:nvPr/>
          </p:nvSpPr>
          <p:spPr>
            <a:xfrm>
              <a:off x="5632512" y="5205321"/>
              <a:ext cx="496388" cy="496388"/>
            </a:xfrm>
            <a:prstGeom prst="ellips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1" name="타원 50"/>
            <p:cNvSpPr/>
            <p:nvPr/>
          </p:nvSpPr>
          <p:spPr>
            <a:xfrm>
              <a:off x="6439989" y="5205321"/>
              <a:ext cx="496388" cy="496388"/>
            </a:xfrm>
            <a:prstGeom prst="ellips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4825035" y="5655491"/>
              <a:ext cx="54373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 smtClean="0"/>
                <a:t>item1</a:t>
              </a:r>
              <a:endParaRPr lang="ko-KR" altLang="en-US" sz="1100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614242" y="5655491"/>
              <a:ext cx="54373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 smtClean="0"/>
                <a:t>item2</a:t>
              </a:r>
              <a:endParaRPr lang="ko-KR" altLang="en-US" sz="1100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6433230" y="5655491"/>
              <a:ext cx="54373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100" dirty="0" smtClean="0"/>
                <a:t>item3</a:t>
              </a:r>
              <a:endParaRPr lang="ko-KR" altLang="en-US" sz="1100" dirty="0"/>
            </a:p>
          </p:txBody>
        </p:sp>
        <p:cxnSp>
          <p:nvCxnSpPr>
            <p:cNvPr id="56" name="직선 연결선 55"/>
            <p:cNvCxnSpPr>
              <a:stCxn id="13" idx="3"/>
            </p:cNvCxnSpPr>
            <p:nvPr/>
          </p:nvCxnSpPr>
          <p:spPr>
            <a:xfrm>
              <a:off x="7067006" y="2736669"/>
              <a:ext cx="2151017" cy="132324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/>
            <p:cNvCxnSpPr>
              <a:stCxn id="37" idx="3"/>
            </p:cNvCxnSpPr>
            <p:nvPr/>
          </p:nvCxnSpPr>
          <p:spPr>
            <a:xfrm>
              <a:off x="7067006" y="4061988"/>
              <a:ext cx="215101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 60"/>
            <p:cNvCxnSpPr>
              <a:stCxn id="46" idx="3"/>
            </p:cNvCxnSpPr>
            <p:nvPr/>
          </p:nvCxnSpPr>
          <p:spPr>
            <a:xfrm flipV="1">
              <a:off x="7067006" y="4072765"/>
              <a:ext cx="2151017" cy="128708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/>
            <p:cNvSpPr txBox="1"/>
            <p:nvPr/>
          </p:nvSpPr>
          <p:spPr>
            <a:xfrm>
              <a:off x="9218023" y="3907457"/>
              <a:ext cx="188224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smtClean="0"/>
                <a:t>섹션은 사용자가</a:t>
              </a:r>
              <a:endParaRPr lang="en-US" altLang="ko-KR" dirty="0" smtClean="0"/>
            </a:p>
            <a:p>
              <a:r>
                <a:rPr lang="ko-KR" altLang="en-US" dirty="0" err="1" smtClean="0"/>
                <a:t>커스텀</a:t>
              </a:r>
              <a:r>
                <a:rPr lang="ko-KR" altLang="en-US" dirty="0" smtClean="0"/>
                <a:t> 가능</a:t>
              </a:r>
              <a:endParaRPr lang="ko-KR" altLang="en-US" dirty="0"/>
            </a:p>
          </p:txBody>
        </p:sp>
        <p:sp>
          <p:nvSpPr>
            <p:cNvPr id="65" name="직사각형 64"/>
            <p:cNvSpPr/>
            <p:nvPr/>
          </p:nvSpPr>
          <p:spPr>
            <a:xfrm>
              <a:off x="5839098" y="1711234"/>
              <a:ext cx="318884" cy="279087"/>
            </a:xfrm>
            <a:prstGeom prst="rect">
              <a:avLst/>
            </a:prstGeom>
            <a:noFill/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cxnSp>
          <p:nvCxnSpPr>
            <p:cNvPr id="67" name="꺾인 연결선 66"/>
            <p:cNvCxnSpPr>
              <a:stCxn id="65" idx="2"/>
            </p:cNvCxnSpPr>
            <p:nvPr/>
          </p:nvCxnSpPr>
          <p:spPr>
            <a:xfrm rot="16200000" flipH="1">
              <a:off x="7380384" y="608477"/>
              <a:ext cx="81326" cy="2845014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/>
            <p:cNvSpPr txBox="1"/>
            <p:nvPr/>
          </p:nvSpPr>
          <p:spPr>
            <a:xfrm>
              <a:off x="8843554" y="1906295"/>
              <a:ext cx="301236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 smtClean="0"/>
                <a:t>누르면 프로파일 설정</a:t>
              </a:r>
              <a:endParaRPr lang="en-US" altLang="ko-KR" dirty="0" smtClean="0"/>
            </a:p>
            <a:p>
              <a:r>
                <a:rPr lang="en-US" altLang="ko-KR" dirty="0" smtClean="0"/>
                <a:t>(</a:t>
              </a:r>
              <a:r>
                <a:rPr lang="ko-KR" altLang="en-US" dirty="0" smtClean="0"/>
                <a:t>섹션 설정</a:t>
              </a:r>
              <a:r>
                <a:rPr lang="en-US" altLang="ko-KR" dirty="0" smtClean="0"/>
                <a:t>, </a:t>
              </a:r>
              <a:r>
                <a:rPr lang="ko-KR" altLang="en-US" dirty="0" smtClean="0"/>
                <a:t>개인 정보 설정</a:t>
              </a:r>
              <a:r>
                <a:rPr lang="en-US" altLang="ko-KR" smtClean="0"/>
                <a:t>)</a:t>
              </a:r>
              <a:endParaRPr lang="ko-KR" altLang="en-US" dirty="0"/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665593" y="1747880"/>
              <a:ext cx="351250" cy="340412"/>
            </a:xfrm>
            <a:prstGeom prst="rect">
              <a:avLst/>
            </a:prstGeom>
            <a:noFill/>
            <a:ln w="31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cxnSp>
          <p:nvCxnSpPr>
            <p:cNvPr id="58" name="꺾인 연결선 57"/>
            <p:cNvCxnSpPr>
              <a:stCxn id="55" idx="2"/>
            </p:cNvCxnSpPr>
            <p:nvPr/>
          </p:nvCxnSpPr>
          <p:spPr>
            <a:xfrm rot="5400000">
              <a:off x="4069109" y="1380221"/>
              <a:ext cx="64038" cy="1480180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직사각형 6"/>
            <p:cNvSpPr/>
            <p:nvPr/>
          </p:nvSpPr>
          <p:spPr>
            <a:xfrm>
              <a:off x="2810887" y="1948387"/>
              <a:ext cx="5501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dirty="0" err="1"/>
                <a:t>nav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46200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4559644" y="1631092"/>
            <a:ext cx="2656702" cy="4794422"/>
          </a:xfrm>
          <a:prstGeom prst="rect">
            <a:avLst/>
          </a:prstGeom>
          <a:solidFill>
            <a:schemeClr val="bg1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4607014" y="1671894"/>
            <a:ext cx="2576381" cy="4322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173891" y="308919"/>
            <a:ext cx="44887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600" b="1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화면 설계 </a:t>
            </a:r>
            <a:r>
              <a:rPr lang="en-US" altLang="ko-KR" sz="3600" b="1" dirty="0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– </a:t>
            </a:r>
            <a:r>
              <a:rPr lang="ko-KR" altLang="en-US" sz="3600" b="1" dirty="0" err="1" smtClean="0">
                <a:latin typeface="Yu Gothic UI" panose="020B0500000000000000" pitchFamily="34" charset="-128"/>
                <a:ea typeface="Yu Gothic UI" panose="020B0500000000000000" pitchFamily="34" charset="-128"/>
              </a:rPr>
              <a:t>프롬포트</a:t>
            </a:r>
            <a:endParaRPr lang="ko-KR" altLang="en-US" sz="3600" b="1" dirty="0">
              <a:latin typeface="Yu Gothic UI" panose="020B0500000000000000" pitchFamily="34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17353" y="1099751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DEVICE</a:t>
            </a:r>
            <a:endParaRPr lang="ko-KR" altLang="en-US" dirty="0"/>
          </a:p>
        </p:txBody>
      </p:sp>
      <p:sp>
        <p:nvSpPr>
          <p:cNvPr id="3" name="모서리가 둥근 직사각형 2"/>
          <p:cNvSpPr/>
          <p:nvPr/>
        </p:nvSpPr>
        <p:spPr>
          <a:xfrm>
            <a:off x="4695569" y="5997146"/>
            <a:ext cx="1918166" cy="24713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100" dirty="0" err="1" smtClean="0">
                <a:solidFill>
                  <a:schemeClr val="tx1"/>
                </a:solidFill>
              </a:rPr>
              <a:t>프롬포트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6712587" y="5997146"/>
            <a:ext cx="404906" cy="247135"/>
          </a:xfrm>
          <a:prstGeom prst="roundRect">
            <a:avLst/>
          </a:prstGeom>
          <a:solidFill>
            <a:srgbClr val="FFFF00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smtClean="0">
                <a:solidFill>
                  <a:schemeClr val="tx1"/>
                </a:solidFill>
              </a:rPr>
              <a:t>전송</a:t>
            </a:r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9" name="모서리가 둥근 직사각형 8"/>
          <p:cNvSpPr/>
          <p:nvPr/>
        </p:nvSpPr>
        <p:spPr>
          <a:xfrm>
            <a:off x="5782961" y="2144925"/>
            <a:ext cx="1186249" cy="395416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5835424" y="2234911"/>
            <a:ext cx="87716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 smtClean="0"/>
              <a:t>A</a:t>
            </a:r>
            <a:r>
              <a:rPr lang="ko-KR" altLang="en-US" sz="800" dirty="0" smtClean="0"/>
              <a:t>상품 </a:t>
            </a:r>
            <a:r>
              <a:rPr lang="en-US" altLang="ko-KR" sz="800" dirty="0" smtClean="0"/>
              <a:t>10000</a:t>
            </a:r>
            <a:r>
              <a:rPr lang="ko-KR" altLang="en-US" sz="800" dirty="0" smtClean="0"/>
              <a:t>원</a:t>
            </a:r>
            <a:endParaRPr lang="ko-KR" altLang="en-US" sz="800" dirty="0"/>
          </a:p>
        </p:txBody>
      </p:sp>
      <p:sp>
        <p:nvSpPr>
          <p:cNvPr id="59" name="모서리가 둥근 직사각형 58"/>
          <p:cNvSpPr/>
          <p:nvPr/>
        </p:nvSpPr>
        <p:spPr>
          <a:xfrm>
            <a:off x="4824228" y="2702349"/>
            <a:ext cx="1186249" cy="77710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/>
          <p:cNvSpPr txBox="1"/>
          <p:nvPr/>
        </p:nvSpPr>
        <p:spPr>
          <a:xfrm>
            <a:off x="4905798" y="2795715"/>
            <a:ext cx="9797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/>
              <a:t>사용처 </a:t>
            </a:r>
            <a:r>
              <a:rPr lang="en-US" altLang="ko-KR" sz="800" dirty="0" smtClean="0"/>
              <a:t>: A</a:t>
            </a:r>
            <a:r>
              <a:rPr lang="ko-KR" altLang="en-US" sz="800" dirty="0" smtClean="0"/>
              <a:t>상품 </a:t>
            </a:r>
            <a:endParaRPr lang="en-US" altLang="ko-KR" sz="800" dirty="0" smtClean="0"/>
          </a:p>
          <a:p>
            <a:r>
              <a:rPr lang="ko-KR" altLang="en-US" sz="800" dirty="0" smtClean="0"/>
              <a:t>가격    </a:t>
            </a:r>
            <a:r>
              <a:rPr lang="en-US" altLang="ko-KR" sz="800" dirty="0" smtClean="0"/>
              <a:t>: 10000</a:t>
            </a:r>
            <a:r>
              <a:rPr lang="ko-KR" altLang="en-US" sz="800" dirty="0" smtClean="0"/>
              <a:t>원</a:t>
            </a:r>
            <a:endParaRPr lang="en-US" altLang="ko-KR" sz="800" dirty="0" smtClean="0"/>
          </a:p>
          <a:p>
            <a:r>
              <a:rPr lang="ko-KR" altLang="en-US" sz="800" dirty="0" smtClean="0"/>
              <a:t>이 맞습니까</a:t>
            </a:r>
            <a:r>
              <a:rPr lang="en-US" altLang="ko-KR" sz="800" dirty="0" smtClean="0"/>
              <a:t>?</a:t>
            </a:r>
            <a:endParaRPr lang="ko-KR" altLang="en-US" sz="800" dirty="0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4905799" y="3238156"/>
            <a:ext cx="501152" cy="181232"/>
          </a:xfrm>
          <a:prstGeom prst="roundRect">
            <a:avLst/>
          </a:prstGeom>
          <a:solidFill>
            <a:schemeClr val="bg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예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2" name="모서리가 둥근 직사각형 61"/>
          <p:cNvSpPr/>
          <p:nvPr/>
        </p:nvSpPr>
        <p:spPr>
          <a:xfrm>
            <a:off x="5423990" y="3238156"/>
            <a:ext cx="560173" cy="181232"/>
          </a:xfrm>
          <a:prstGeom prst="roundRect">
            <a:avLst/>
          </a:prstGeom>
          <a:solidFill>
            <a:schemeClr val="bg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아니요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모서리가 둥근 직사각형 14"/>
          <p:cNvSpPr/>
          <p:nvPr/>
        </p:nvSpPr>
        <p:spPr>
          <a:xfrm>
            <a:off x="4824228" y="3544669"/>
            <a:ext cx="1186249" cy="77710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모서리가 둥근 직사각형 15"/>
          <p:cNvSpPr/>
          <p:nvPr/>
        </p:nvSpPr>
        <p:spPr>
          <a:xfrm>
            <a:off x="4905799" y="3598557"/>
            <a:ext cx="979754" cy="194629"/>
          </a:xfrm>
          <a:prstGeom prst="roundRect">
            <a:avLst/>
          </a:prstGeom>
          <a:solidFill>
            <a:schemeClr val="bg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카테고리 </a:t>
            </a:r>
            <a:r>
              <a:rPr lang="en-US" altLang="ko-KR" sz="9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7" name="모서리가 둥근 직사각형 16"/>
          <p:cNvSpPr/>
          <p:nvPr/>
        </p:nvSpPr>
        <p:spPr>
          <a:xfrm>
            <a:off x="4905798" y="3831617"/>
            <a:ext cx="979754" cy="194629"/>
          </a:xfrm>
          <a:prstGeom prst="roundRect">
            <a:avLst/>
          </a:prstGeom>
          <a:solidFill>
            <a:schemeClr val="bg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카테고리 </a:t>
            </a:r>
            <a:r>
              <a:rPr lang="en-US" altLang="ko-KR" sz="9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B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217581" y="3910400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…</a:t>
            </a:r>
            <a:endParaRPr lang="ko-KR" altLang="en-US" dirty="0"/>
          </a:p>
        </p:txBody>
      </p:sp>
      <p:sp>
        <p:nvSpPr>
          <p:cNvPr id="19" name="모서리가 둥근 직사각형 18"/>
          <p:cNvSpPr/>
          <p:nvPr/>
        </p:nvSpPr>
        <p:spPr>
          <a:xfrm>
            <a:off x="4824228" y="4377144"/>
            <a:ext cx="1186249" cy="94416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모서리가 둥근 직사각형 19"/>
          <p:cNvSpPr/>
          <p:nvPr/>
        </p:nvSpPr>
        <p:spPr>
          <a:xfrm>
            <a:off x="4905799" y="4426287"/>
            <a:ext cx="979754" cy="194629"/>
          </a:xfrm>
          <a:prstGeom prst="roundRect">
            <a:avLst/>
          </a:prstGeom>
          <a:solidFill>
            <a:schemeClr val="bg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현금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1" name="모서리가 둥근 직사각형 20"/>
          <p:cNvSpPr/>
          <p:nvPr/>
        </p:nvSpPr>
        <p:spPr>
          <a:xfrm>
            <a:off x="4905799" y="4646936"/>
            <a:ext cx="979754" cy="194629"/>
          </a:xfrm>
          <a:prstGeom prst="roundRect">
            <a:avLst/>
          </a:prstGeom>
          <a:solidFill>
            <a:schemeClr val="bg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</a:t>
            </a:r>
            <a:r>
              <a:rPr lang="ko-KR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카드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905799" y="4870732"/>
            <a:ext cx="979754" cy="194629"/>
          </a:xfrm>
          <a:prstGeom prst="roundRect">
            <a:avLst/>
          </a:prstGeom>
          <a:solidFill>
            <a:schemeClr val="bg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</a:t>
            </a:r>
            <a:r>
              <a:rPr lang="ko-KR" altLang="en-US" sz="9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카드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17581" y="4916558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…</a:t>
            </a:r>
            <a:endParaRPr lang="ko-KR" altLang="en-US" dirty="0"/>
          </a:p>
        </p:txBody>
      </p:sp>
      <p:sp>
        <p:nvSpPr>
          <p:cNvPr id="24" name="모서리가 둥근 직사각형 23"/>
          <p:cNvSpPr/>
          <p:nvPr/>
        </p:nvSpPr>
        <p:spPr>
          <a:xfrm>
            <a:off x="4824228" y="5376673"/>
            <a:ext cx="1309453" cy="32494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4826913" y="5448989"/>
            <a:ext cx="130676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 smtClean="0"/>
              <a:t>등록이 완료 되었습니다</a:t>
            </a:r>
            <a:r>
              <a:rPr lang="en-US" altLang="ko-KR" sz="800" dirty="0" smtClean="0"/>
              <a:t>.</a:t>
            </a:r>
            <a:endParaRPr lang="ko-KR" altLang="en-US" sz="800" dirty="0"/>
          </a:p>
        </p:txBody>
      </p:sp>
      <p:sp>
        <p:nvSpPr>
          <p:cNvPr id="7" name="1/2 액자 6"/>
          <p:cNvSpPr/>
          <p:nvPr/>
        </p:nvSpPr>
        <p:spPr>
          <a:xfrm rot="18976132">
            <a:off x="4726291" y="1838302"/>
            <a:ext cx="137846" cy="144203"/>
          </a:xfrm>
          <a:prstGeom prst="halfFrame">
            <a:avLst/>
          </a:prstGeom>
          <a:solidFill>
            <a:schemeClr val="tx1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061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76200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276</Words>
  <Application>Microsoft Office PowerPoint</Application>
  <PresentationFormat>와이드스크린</PresentationFormat>
  <Paragraphs>133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Yu Gothic UI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Windows 사용자</cp:lastModifiedBy>
  <cp:revision>48</cp:revision>
  <dcterms:created xsi:type="dcterms:W3CDTF">2025-07-28T00:15:26Z</dcterms:created>
  <dcterms:modified xsi:type="dcterms:W3CDTF">2025-08-05T06:09:39Z</dcterms:modified>
</cp:coreProperties>
</file>